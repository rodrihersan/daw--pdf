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1" r:id="rId19"/>
    <p:sldId id="274" r:id="rId20"/>
    <p:sldId id="275" r:id="rId21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84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19140000">
            <a:off x="817112" y="1730403"/>
            <a:ext cx="5648623" cy="1204306"/>
          </a:xfrm>
        </p:spPr>
        <p:txBody>
          <a:bodyPr bIns="9144"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19140000">
            <a:off x="1212277" y="2470925"/>
            <a:ext cx="6511131" cy="329259"/>
          </a:xfrm>
        </p:spPr>
        <p:txBody>
          <a:bodyPr tIns="9144">
            <a:normAutofit/>
          </a:bodyPr>
          <a:lstStyle>
            <a:lvl1pPr marL="0" indent="0" algn="l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24/09/2026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24/09/2026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819399" y="1726737"/>
            <a:ext cx="5650992" cy="1207509"/>
          </a:xfrm>
        </p:spPr>
        <p:txBody>
          <a:bodyPr bIns="9144" anchor="b"/>
          <a:lstStyle>
            <a:lvl1pPr algn="l">
              <a:defRPr kumimoji="0" lang="en-US" sz="32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 rot="19140000">
            <a:off x="1216152" y="2468304"/>
            <a:ext cx="6510528" cy="329184"/>
          </a:xfrm>
        </p:spPr>
        <p:txBody>
          <a:bodyPr anchor="t">
            <a:normAutofit/>
          </a:bodyPr>
          <a:lstStyle>
            <a:lvl1pPr marL="0" indent="0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24/09/2026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016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24/09/2026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9150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0016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0016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24/09/2026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24/09/2026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24/09/2026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ight Triangle 1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Triangle 17"/>
          <p:cNvSpPr/>
          <p:nvPr/>
        </p:nvSpPr>
        <p:spPr>
          <a:xfrm rot="5400000">
            <a:off x="433389" y="-433387"/>
            <a:ext cx="6858000" cy="7724778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784930" y="1576103"/>
            <a:ext cx="5212080" cy="1089427"/>
          </a:xfrm>
        </p:spPr>
        <p:txBody>
          <a:bodyPr bIns="0" anchor="b"/>
          <a:lstStyle>
            <a:lvl1pPr algn="l">
              <a:defRPr kumimoji="0" lang="en-US" sz="2800" b="0" i="0" u="none" strike="noStrike" kern="1200" cap="all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9552" y="2618912"/>
            <a:ext cx="3807779" cy="33246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297954" y="2253385"/>
            <a:ext cx="5794760" cy="623314"/>
          </a:xfrm>
        </p:spPr>
        <p:txBody>
          <a:bodyPr>
            <a:normAutofit/>
          </a:bodyPr>
          <a:lstStyle>
            <a:lvl1pPr marL="0" indent="0">
              <a:buNone/>
              <a:defRPr lang="en-US" sz="1400" b="1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24/09/2026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tx2"/>
            </a:solidFill>
          </a:ln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2028825" y="0"/>
            <a:ext cx="7115175" cy="6858000"/>
          </a:xfrm>
          <a:custGeom>
            <a:avLst/>
            <a:gdLst>
              <a:gd name="connsiteX0" fmla="*/ 0 w 7104888"/>
              <a:gd name="connsiteY0" fmla="*/ 0 h 6858000"/>
              <a:gd name="connsiteX1" fmla="*/ 7104888 w 7104888"/>
              <a:gd name="connsiteY1" fmla="*/ 0 h 6858000"/>
              <a:gd name="connsiteX2" fmla="*/ 7104888 w 7104888"/>
              <a:gd name="connsiteY2" fmla="*/ 6858000 h 6858000"/>
              <a:gd name="connsiteX3" fmla="*/ 0 w 7104888"/>
              <a:gd name="connsiteY3" fmla="*/ 6858000 h 6858000"/>
              <a:gd name="connsiteX4" fmla="*/ 0 w 7104888"/>
              <a:gd name="connsiteY4" fmla="*/ 0 h 6858000"/>
              <a:gd name="connsiteX0" fmla="*/ 0 w 7104888"/>
              <a:gd name="connsiteY0" fmla="*/ 0 h 6858000"/>
              <a:gd name="connsiteX1" fmla="*/ 5695188 w 7104888"/>
              <a:gd name="connsiteY1" fmla="*/ 0 h 6858000"/>
              <a:gd name="connsiteX2" fmla="*/ 7104888 w 7104888"/>
              <a:gd name="connsiteY2" fmla="*/ 0 h 6858000"/>
              <a:gd name="connsiteX3" fmla="*/ 7104888 w 7104888"/>
              <a:gd name="connsiteY3" fmla="*/ 6858000 h 6858000"/>
              <a:gd name="connsiteX4" fmla="*/ 0 w 7104888"/>
              <a:gd name="connsiteY4" fmla="*/ 6858000 h 6858000"/>
              <a:gd name="connsiteX5" fmla="*/ 0 w 7104888"/>
              <a:gd name="connsiteY5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0287 w 7115175"/>
              <a:gd name="connsiteY4" fmla="*/ 6858000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10287 w 7115175"/>
              <a:gd name="connsiteY5" fmla="*/ 6858000 h 6858000"/>
              <a:gd name="connsiteX6" fmla="*/ 0 w 7115175"/>
              <a:gd name="connsiteY6" fmla="*/ 5048250 h 6858000"/>
              <a:gd name="connsiteX7" fmla="*/ 10287 w 7115175"/>
              <a:gd name="connsiteY7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0 w 7115175"/>
              <a:gd name="connsiteY0" fmla="*/ 504825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15175" h="6858000">
                <a:moveTo>
                  <a:pt x="0" y="5048250"/>
                </a:moveTo>
                <a:lnTo>
                  <a:pt x="5705475" y="0"/>
                </a:lnTo>
                <a:lnTo>
                  <a:pt x="7115175" y="0"/>
                </a:lnTo>
                <a:lnTo>
                  <a:pt x="7115175" y="6858000"/>
                </a:lnTo>
                <a:lnTo>
                  <a:pt x="1533526" y="6848475"/>
                </a:lnTo>
                <a:lnTo>
                  <a:pt x="0" y="50482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</p:spPr>
        <p:txBody>
          <a:bodyPr rIns="182880" anchor="ctr"/>
          <a:lstStyle>
            <a:lvl1pPr algn="r">
              <a:defRPr/>
            </a:lvl1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9" name="Right Triangle 8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0" y="5048250"/>
            <a:ext cx="3571875" cy="1809750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1809750 h 1809750"/>
              <a:gd name="connsiteX1" fmla="*/ 1895475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  <a:gd name="connsiteX0" fmla="*/ 0 w 3571875"/>
              <a:gd name="connsiteY0" fmla="*/ 1809750 h 1809750"/>
              <a:gd name="connsiteX1" fmla="*/ 2038350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71875" h="1809750">
                <a:moveTo>
                  <a:pt x="0" y="1809750"/>
                </a:moveTo>
                <a:lnTo>
                  <a:pt x="2038350" y="0"/>
                </a:lnTo>
                <a:lnTo>
                  <a:pt x="3571875" y="1809750"/>
                </a:lnTo>
                <a:lnTo>
                  <a:pt x="0" y="18097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671197" y="1717501"/>
            <a:ext cx="5486400" cy="867444"/>
          </a:xfrm>
        </p:spPr>
        <p:txBody>
          <a:bodyPr anchor="b"/>
          <a:lstStyle>
            <a:lvl1pPr algn="l">
              <a:defRPr sz="2800" b="0">
                <a:latin typeface="+mj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143479" y="2180529"/>
            <a:ext cx="6096545" cy="740664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24/09/2026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24/09/2026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4678362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4678362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24/09/2026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-2382" y="5050633"/>
            <a:ext cx="3574257" cy="1807368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883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050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812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76450 w 3571875"/>
              <a:gd name="connsiteY2" fmla="*/ 22740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245519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38350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2433637 h 2433637"/>
              <a:gd name="connsiteX1" fmla="*/ 257175 w 3571875"/>
              <a:gd name="connsiteY1" fmla="*/ 0 h 2433637"/>
              <a:gd name="connsiteX2" fmla="*/ 2038350 w 3571875"/>
              <a:gd name="connsiteY2" fmla="*/ 628650 h 2433637"/>
              <a:gd name="connsiteX3" fmla="*/ 3571875 w 3571875"/>
              <a:gd name="connsiteY3" fmla="*/ 2433637 h 2433637"/>
              <a:gd name="connsiteX4" fmla="*/ 0 w 3571875"/>
              <a:gd name="connsiteY4" fmla="*/ 2433637 h 2433637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24051 w 3574257"/>
              <a:gd name="connsiteY2" fmla="*/ 3071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40682 w 3574257"/>
              <a:gd name="connsiteY2" fmla="*/ 450057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57351 w 3574257"/>
              <a:gd name="connsiteY2" fmla="*/ 2309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774032 w 3574257"/>
              <a:gd name="connsiteY2" fmla="*/ 161925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69294 w 3574257"/>
              <a:gd name="connsiteY2" fmla="*/ 2143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819275 w 3574257"/>
              <a:gd name="connsiteY2" fmla="*/ 200026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5494 w 3574257"/>
              <a:gd name="connsiteY2" fmla="*/ 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4257" h="1807368">
                <a:moveTo>
                  <a:pt x="2382" y="1807368"/>
                </a:moveTo>
                <a:lnTo>
                  <a:pt x="0" y="0"/>
                </a:lnTo>
                <a:lnTo>
                  <a:pt x="2045494" y="1"/>
                </a:lnTo>
                <a:lnTo>
                  <a:pt x="3574257" y="1807368"/>
                </a:lnTo>
                <a:lnTo>
                  <a:pt x="2382" y="180736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5051292"/>
            <a:ext cx="9146380" cy="1806709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  <a:gd name="connsiteX0" fmla="*/ 0 w 3352800"/>
              <a:gd name="connsiteY0" fmla="*/ 2002631 h 2002631"/>
              <a:gd name="connsiteX1" fmla="*/ 754045 w 3352800"/>
              <a:gd name="connsiteY1" fmla="*/ 146832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26618 h 526618"/>
              <a:gd name="connsiteX1" fmla="*/ 980611 w 3352800"/>
              <a:gd name="connsiteY1" fmla="*/ 9368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6888 h 526888"/>
              <a:gd name="connsiteX1" fmla="*/ 744735 w 3352800"/>
              <a:gd name="connsiteY1" fmla="*/ 0 h 526888"/>
              <a:gd name="connsiteX2" fmla="*/ 3352800 w 3352800"/>
              <a:gd name="connsiteY2" fmla="*/ 270 h 526888"/>
              <a:gd name="connsiteX3" fmla="*/ 3352800 w 3352800"/>
              <a:gd name="connsiteY3" fmla="*/ 526888 h 526888"/>
              <a:gd name="connsiteX4" fmla="*/ 0 w 3352800"/>
              <a:gd name="connsiteY4" fmla="*/ 526888 h 526888"/>
              <a:gd name="connsiteX0" fmla="*/ 0 w 3352800"/>
              <a:gd name="connsiteY0" fmla="*/ 526618 h 526618"/>
              <a:gd name="connsiteX1" fmla="*/ 811948 w 3352800"/>
              <a:gd name="connsiteY1" fmla="*/ 6092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966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241069 w 3352800"/>
              <a:gd name="connsiteY2" fmla="*/ 94144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313 h 527313"/>
              <a:gd name="connsiteX1" fmla="*/ 900984 w 3352800"/>
              <a:gd name="connsiteY1" fmla="*/ 97774 h 527313"/>
              <a:gd name="connsiteX2" fmla="*/ 3352800 w 3352800"/>
              <a:gd name="connsiteY2" fmla="*/ 0 h 527313"/>
              <a:gd name="connsiteX3" fmla="*/ 3352800 w 3352800"/>
              <a:gd name="connsiteY3" fmla="*/ 527313 h 527313"/>
              <a:gd name="connsiteX4" fmla="*/ 0 w 3352800"/>
              <a:gd name="connsiteY4" fmla="*/ 527313 h 527313"/>
              <a:gd name="connsiteX0" fmla="*/ 0 w 3352800"/>
              <a:gd name="connsiteY0" fmla="*/ 527584 h 527584"/>
              <a:gd name="connsiteX1" fmla="*/ 748227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527584">
                <a:moveTo>
                  <a:pt x="0" y="527584"/>
                </a:moveTo>
                <a:lnTo>
                  <a:pt x="748227" y="0"/>
                </a:lnTo>
                <a:lnTo>
                  <a:pt x="3352800" y="271"/>
                </a:lnTo>
                <a:lnTo>
                  <a:pt x="3352800" y="527584"/>
                </a:lnTo>
                <a:lnTo>
                  <a:pt x="0" y="527584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365760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100628"/>
            <a:ext cx="7520940" cy="3579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9140000">
            <a:off x="201168" y="5870448"/>
            <a:ext cx="2176272" cy="2011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7A847CFC-816F-41D0-AAC0-9BF4FEBC753E}" type="datetimeFigureOut">
              <a:rPr lang="es-ES" smtClean="0"/>
              <a:t>24/09/2026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17514" y="6285122"/>
            <a:ext cx="47244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rgbClr val="FFFFFF"/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01038" y="6170822"/>
            <a:ext cx="502920" cy="502920"/>
          </a:xfrm>
          <a:prstGeom prst="ellipse">
            <a:avLst/>
          </a:prstGeom>
          <a:ln w="19050">
            <a:solidFill>
              <a:srgbClr val="FFFFFF"/>
            </a:solidFill>
          </a:ln>
        </p:spPr>
        <p:txBody>
          <a:bodyPr vert="horz" lIns="9144" tIns="9144" rIns="9144" bIns="9144" rtlCol="0" anchor="ctr">
            <a:normAutofit/>
          </a:bodyPr>
          <a:lstStyle>
            <a:lvl1pPr algn="ctr">
              <a:defRPr sz="1650">
                <a:solidFill>
                  <a:srgbClr val="FFFFFF"/>
                </a:solidFill>
              </a:defRPr>
            </a:lvl1pPr>
          </a:lstStyle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800"/>
        </a:spcBef>
        <a:buFont typeface="Arial" pitchFamily="34" charset="0"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1737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023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309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95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533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5819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792224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SF9YUSL61HE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0fVvCgs8oQg?list=PLapjNZJIttkvS2G7j8eIgmud3gXhsdM9z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wVD39XT7Q-E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resources.sw.siemens.com/es-ES/white-paper-smart-factory-guide-for-manufacturers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395536" y="332656"/>
            <a:ext cx="5648623" cy="1204306"/>
          </a:xfrm>
        </p:spPr>
        <p:txBody>
          <a:bodyPr/>
          <a:lstStyle/>
          <a:p>
            <a:r>
              <a:rPr lang="es-ES" dirty="0"/>
              <a:t>Digitalización en los sectores productivos</a:t>
            </a:r>
            <a:endParaRPr lang="es-ES_tradnl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UNIDAD 1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552542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22960" y="332656"/>
            <a:ext cx="7520940" cy="4347821"/>
          </a:xfrm>
        </p:spPr>
        <p:txBody>
          <a:bodyPr/>
          <a:lstStyle/>
          <a:p>
            <a:r>
              <a:rPr lang="es-ES" sz="2800" dirty="0">
                <a:latin typeface="Arial" pitchFamily="34" charset="0"/>
                <a:cs typeface="Arial" pitchFamily="34" charset="0"/>
              </a:rPr>
              <a:t>En esta unidad va a estudiar</a:t>
            </a:r>
          </a:p>
          <a:p>
            <a:endParaRPr lang="es-ES" sz="2000" dirty="0">
              <a:latin typeface="Arial" pitchFamily="34" charset="0"/>
              <a:cs typeface="Arial" pitchFamily="34" charset="0"/>
            </a:endParaRPr>
          </a:p>
          <a:p>
            <a:pPr lvl="2">
              <a:buFont typeface="Arial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Cronología de las revoluciones industriales. Principales elementos.</a:t>
            </a:r>
          </a:p>
          <a:p>
            <a:pPr lvl="2">
              <a:buFont typeface="Arial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Cuarta revolución. Digitalización. Elementos que la definen.</a:t>
            </a:r>
          </a:p>
          <a:p>
            <a:pPr lvl="2">
              <a:buFont typeface="Arial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Sistemas </a:t>
            </a:r>
            <a:r>
              <a:rPr lang="es-ES" sz="1800" dirty="0" err="1">
                <a:latin typeface="Arial" pitchFamily="34" charset="0"/>
                <a:cs typeface="Arial" pitchFamily="34" charset="0"/>
              </a:rPr>
              <a:t>ciberfísicos</a:t>
            </a:r>
            <a:r>
              <a:rPr lang="es-ES" sz="1800" dirty="0">
                <a:latin typeface="Arial" pitchFamily="34" charset="0"/>
                <a:cs typeface="Arial" pitchFamily="34" charset="0"/>
              </a:rPr>
              <a:t>.</a:t>
            </a:r>
          </a:p>
          <a:p>
            <a:pPr lvl="2">
              <a:buFont typeface="Arial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Estructura de la empresa. Digitalización de sus unidades.</a:t>
            </a:r>
          </a:p>
          <a:p>
            <a:pPr lvl="2">
              <a:buFont typeface="Arial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Entornos IT(</a:t>
            </a:r>
            <a:r>
              <a:rPr lang="es-ES" sz="1800" dirty="0" err="1">
                <a:latin typeface="Arial" pitchFamily="34" charset="0"/>
                <a:cs typeface="Arial" pitchFamily="34" charset="0"/>
              </a:rPr>
              <a:t>Information</a:t>
            </a:r>
            <a:r>
              <a:rPr lang="es-ES" sz="1800" dirty="0">
                <a:latin typeface="Arial" pitchFamily="34" charset="0"/>
                <a:cs typeface="Arial" pitchFamily="34" charset="0"/>
              </a:rPr>
              <a:t> </a:t>
            </a:r>
            <a:r>
              <a:rPr lang="es-ES" sz="1800" dirty="0" err="1">
                <a:latin typeface="Arial" pitchFamily="34" charset="0"/>
                <a:cs typeface="Arial" pitchFamily="34" charset="0"/>
              </a:rPr>
              <a:t>Technology</a:t>
            </a:r>
            <a:r>
              <a:rPr lang="es-ES" sz="1800" dirty="0">
                <a:latin typeface="Arial" pitchFamily="34" charset="0"/>
                <a:cs typeface="Arial" pitchFamily="34" charset="0"/>
              </a:rPr>
              <a:t>: tecnología de la información) y OT(</a:t>
            </a:r>
            <a:r>
              <a:rPr lang="es-ES" sz="1800" dirty="0" err="1">
                <a:latin typeface="Arial" pitchFamily="34" charset="0"/>
                <a:cs typeface="Arial" pitchFamily="34" charset="0"/>
              </a:rPr>
              <a:t>Operation</a:t>
            </a:r>
            <a:r>
              <a:rPr lang="es-ES" sz="1800" dirty="0">
                <a:latin typeface="Arial" pitchFamily="34" charset="0"/>
                <a:cs typeface="Arial" pitchFamily="34" charset="0"/>
              </a:rPr>
              <a:t> </a:t>
            </a:r>
            <a:r>
              <a:rPr lang="es-ES" sz="1800" dirty="0" err="1">
                <a:latin typeface="Arial" pitchFamily="34" charset="0"/>
                <a:cs typeface="Arial" pitchFamily="34" charset="0"/>
              </a:rPr>
              <a:t>Technology</a:t>
            </a:r>
            <a:r>
              <a:rPr lang="es-ES" sz="1800" dirty="0">
                <a:latin typeface="Arial" pitchFamily="34" charset="0"/>
                <a:cs typeface="Arial" pitchFamily="34" charset="0"/>
              </a:rPr>
              <a:t>: tecnologías de la operación). Diferencias y similitudes.</a:t>
            </a:r>
          </a:p>
          <a:p>
            <a:pPr lvl="2">
              <a:buFont typeface="Arial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Relación entre entornos IT y OT. Tecnologías disruptivas habilitadoras (THD) en cada entorno.</a:t>
            </a:r>
          </a:p>
          <a:p>
            <a:pPr lvl="2">
              <a:buFont typeface="Arial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Evolución de una empresa clásica a una empresa digitalizadora. Ventajas que supone.</a:t>
            </a:r>
            <a:endParaRPr lang="es-ES_tradnl" sz="18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107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22960" y="404664"/>
            <a:ext cx="7520940" cy="4275813"/>
          </a:xfrm>
        </p:spPr>
        <p:txBody>
          <a:bodyPr/>
          <a:lstStyle/>
          <a:p>
            <a:r>
              <a:rPr lang="es-ES" sz="2800" dirty="0">
                <a:latin typeface="Arial" pitchFamily="34" charset="0"/>
                <a:cs typeface="Arial" pitchFamily="34" charset="0"/>
              </a:rPr>
              <a:t>Introducción</a:t>
            </a:r>
          </a:p>
          <a:p>
            <a:pPr lvl="2">
              <a:buFont typeface="Arial" pitchFamily="34" charset="0"/>
              <a:buChar char="•"/>
            </a:pPr>
            <a:endParaRPr lang="es-ES" dirty="0"/>
          </a:p>
          <a:p>
            <a:pPr lvl="2">
              <a:buFont typeface="Arial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La digitalización es un proceso transversal y multisectorial que afecta a todos los sectores económicos.</a:t>
            </a:r>
          </a:p>
          <a:p>
            <a:pPr lvl="2">
              <a:buFont typeface="Arial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De ahí su trascendencia, y la oportunidad de extraer lecciones que nos preparen para un futuro que nos permita superar situaciones de incertidumbre.</a:t>
            </a:r>
          </a:p>
          <a:p>
            <a:pPr lvl="2">
              <a:buFont typeface="Arial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En esta unidad se va analizar el concepto de digitalización y su repercusión en los sectores productivos, teniendo en cuenta la actividad de la empresa e identificando entornos IT(</a:t>
            </a:r>
            <a:r>
              <a:rPr lang="es-ES" sz="1800" dirty="0" err="1">
                <a:latin typeface="Arial" pitchFamily="34" charset="0"/>
                <a:cs typeface="Arial" pitchFamily="34" charset="0"/>
              </a:rPr>
              <a:t>Information</a:t>
            </a:r>
            <a:r>
              <a:rPr lang="es-ES" sz="1800" dirty="0">
                <a:latin typeface="Arial" pitchFamily="34" charset="0"/>
                <a:cs typeface="Arial" pitchFamily="34" charset="0"/>
              </a:rPr>
              <a:t> </a:t>
            </a:r>
            <a:r>
              <a:rPr lang="es-ES" sz="1800" dirty="0" err="1">
                <a:latin typeface="Arial" pitchFamily="34" charset="0"/>
                <a:cs typeface="Arial" pitchFamily="34" charset="0"/>
              </a:rPr>
              <a:t>Technology</a:t>
            </a:r>
            <a:r>
              <a:rPr lang="es-ES" sz="1800" dirty="0">
                <a:latin typeface="Arial" pitchFamily="34" charset="0"/>
                <a:cs typeface="Arial" pitchFamily="34" charset="0"/>
              </a:rPr>
              <a:t>: tecnología de la información) y OT(</a:t>
            </a:r>
            <a:r>
              <a:rPr lang="es-ES" sz="1800" dirty="0" err="1">
                <a:latin typeface="Arial" pitchFamily="34" charset="0"/>
                <a:cs typeface="Arial" pitchFamily="34" charset="0"/>
              </a:rPr>
              <a:t>Operation</a:t>
            </a:r>
            <a:r>
              <a:rPr lang="es-ES" sz="1800" dirty="0">
                <a:latin typeface="Arial" pitchFamily="34" charset="0"/>
                <a:cs typeface="Arial" pitchFamily="34" charset="0"/>
              </a:rPr>
              <a:t> </a:t>
            </a:r>
            <a:r>
              <a:rPr lang="es-ES" sz="1800" dirty="0" err="1">
                <a:latin typeface="Arial" pitchFamily="34" charset="0"/>
                <a:cs typeface="Arial" pitchFamily="34" charset="0"/>
              </a:rPr>
              <a:t>Technology</a:t>
            </a:r>
            <a:r>
              <a:rPr lang="es-ES" sz="1800" dirty="0">
                <a:latin typeface="Arial" pitchFamily="34" charset="0"/>
                <a:cs typeface="Arial" pitchFamily="34" charset="0"/>
              </a:rPr>
              <a:t>: tecnologías de la operación) característicos.</a:t>
            </a:r>
          </a:p>
          <a:p>
            <a:pPr lvl="2">
              <a:buFont typeface="Arial" pitchFamily="34" charset="0"/>
              <a:buChar char="•"/>
            </a:pP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411987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400" b="1" dirty="0"/>
              <a:t>Cronología de las revoluciones industriales</a:t>
            </a:r>
            <a:endParaRPr lang="es-ES_tradnl" sz="2400" b="1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s-ES" sz="2000" dirty="0">
                <a:latin typeface="Arial" pitchFamily="34" charset="0"/>
                <a:cs typeface="Arial" pitchFamily="34" charset="0"/>
              </a:rPr>
              <a:t>Primera Revolución Industrial. Industria 1.0</a:t>
            </a:r>
          </a:p>
          <a:p>
            <a:pPr lvl="2">
              <a:buFont typeface="Arial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Es el proceso de transformación económica, social y tecnológica.</a:t>
            </a:r>
          </a:p>
          <a:p>
            <a:pPr lvl="2">
              <a:buFont typeface="Arial" pitchFamily="34" charset="0"/>
              <a:buChar char="•"/>
            </a:pPr>
            <a:r>
              <a:rPr lang="es-ES_tradnl" sz="1800" dirty="0">
                <a:latin typeface="Arial" pitchFamily="34" charset="0"/>
                <a:cs typeface="Arial" pitchFamily="34" charset="0"/>
              </a:rPr>
              <a:t>youtube.com/watch?si=8A4kxRRdh7hpjtGV&amp;v=0Fu1krXJapw&amp;feature=youtu.be</a:t>
            </a:r>
          </a:p>
          <a:p>
            <a:pPr lvl="2">
              <a:buFont typeface="Arial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¿Qué hizo la Revolución Industrial por nosotros?</a:t>
            </a:r>
            <a:endParaRPr lang="es-ES_tradnl" sz="1800" dirty="0">
              <a:latin typeface="Arial" pitchFamily="34" charset="0"/>
              <a:cs typeface="Arial" pitchFamily="34" charset="0"/>
            </a:endParaRPr>
          </a:p>
          <a:p>
            <a:pPr lvl="2">
              <a:buFont typeface="Arial" pitchFamily="34" charset="0"/>
              <a:buChar char="•"/>
            </a:pPr>
            <a:endParaRPr lang="es-ES_tradnl" sz="18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2272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Marcador de contenido"/>
          <p:cNvSpPr>
            <a:spLocks noGrp="1"/>
          </p:cNvSpPr>
          <p:nvPr>
            <p:ph idx="1"/>
          </p:nvPr>
        </p:nvSpPr>
        <p:spPr>
          <a:xfrm>
            <a:off x="822960" y="404664"/>
            <a:ext cx="7520940" cy="4275813"/>
          </a:xfrm>
        </p:spPr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s-ES" sz="2000" dirty="0">
                <a:latin typeface="Arial" pitchFamily="34" charset="0"/>
                <a:cs typeface="Arial" pitchFamily="34" charset="0"/>
              </a:rPr>
              <a:t>Segunda Revolución Industrial. Industria 2.0</a:t>
            </a:r>
          </a:p>
          <a:p>
            <a:pPr lvl="2">
              <a:buFont typeface="Arial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Los cambios técnicos siguieron ocupando una posición central, junto a las innovaciones tecnológicas concentradas, esencialmente, en nuevas fuentes de energía como el gas o la electricidad, nuevos materiales como el gas o la electricidad y nuevos sistemas de transporte; avión, automóvil y nuevas maquinas de vapor.</a:t>
            </a:r>
          </a:p>
          <a:p>
            <a:pPr lvl="2">
              <a:buFont typeface="Arial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Nuevos medios de comunicación como el teléfono y la radio que indujeron transformaciones en cadena que afectaron al factor trabajo y al sistema educativo y científico, al tamaño y gestión de las empresas, a la forma de organización del trabajo.</a:t>
            </a:r>
          </a:p>
          <a:p>
            <a:pPr lvl="2">
              <a:buFont typeface="Arial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  <a:hlinkClick r:id="rId2"/>
              </a:rPr>
              <a:t>https://www.youtube.com/watch?v=SF9YUSL61HE</a:t>
            </a:r>
            <a:endParaRPr lang="es-ES" sz="1800" dirty="0">
              <a:latin typeface="Arial" pitchFamily="34" charset="0"/>
              <a:cs typeface="Arial" pitchFamily="34" charset="0"/>
            </a:endParaRPr>
          </a:p>
          <a:p>
            <a:pPr lvl="2">
              <a:buFont typeface="Arial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Identifique las innovaciones o inventos durante la Segunda Revolución Industrial mediante la visualización del video.</a:t>
            </a:r>
          </a:p>
        </p:txBody>
      </p:sp>
    </p:spTree>
    <p:extLst>
      <p:ext uri="{BB962C8B-B14F-4D97-AF65-F5344CB8AC3E}">
        <p14:creationId xmlns:p14="http://schemas.microsoft.com/office/powerpoint/2010/main" val="2053822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22960" y="260648"/>
            <a:ext cx="7520940" cy="4419829"/>
          </a:xfrm>
        </p:spPr>
        <p:txBody>
          <a:bodyPr>
            <a:normAutofit lnSpcReduction="10000"/>
          </a:bodyPr>
          <a:lstStyle/>
          <a:p>
            <a:pPr>
              <a:buFont typeface="Arial" pitchFamily="34" charset="0"/>
              <a:buChar char="•"/>
            </a:pPr>
            <a:r>
              <a:rPr lang="es-ES" sz="2000" dirty="0">
                <a:latin typeface="Arial" pitchFamily="34" charset="0"/>
                <a:cs typeface="Arial" pitchFamily="34" charset="0"/>
              </a:rPr>
              <a:t>Tercera Revolución Industrial. Industria 3.0</a:t>
            </a:r>
          </a:p>
          <a:p>
            <a:pPr lvl="2">
              <a:buFont typeface="Arial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A mediados de los años 40, seguida de una gran oleada de progresos y descubrimientos tecnológicos y científicos en las décadas de los 70 y 80.</a:t>
            </a:r>
          </a:p>
          <a:p>
            <a:pPr lvl="2">
              <a:buFont typeface="Arial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Grandes cambios en sectores como la comunicación y la energía.</a:t>
            </a:r>
          </a:p>
          <a:p>
            <a:pPr lvl="2">
              <a:buFont typeface="Arial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La tercera revolución industrial llego con la televisión y los primeros ordenadores personales que cambiaron el modelo organizativo de las empresas y el trabajo basado en objetivos.</a:t>
            </a:r>
          </a:p>
          <a:p>
            <a:pPr lvl="2">
              <a:buFont typeface="Arial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Surge el primer autómata programable(PLC) que se utiliza en la fabricación, con robots y maquinas que reemplazan a personas en la cadena de montaje.</a:t>
            </a:r>
          </a:p>
          <a:p>
            <a:pPr lvl="2">
              <a:buFont typeface="Arial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La aparición de Internet como nuevo canal de comunicación y venta.</a:t>
            </a:r>
          </a:p>
          <a:p>
            <a:pPr lvl="2">
              <a:buFont typeface="Arial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Comienza la utilización de las energías renovables como la eólica, solar o hidráulica.</a:t>
            </a:r>
          </a:p>
          <a:p>
            <a:pPr lvl="2">
              <a:buFont typeface="Arial" pitchFamily="34" charset="0"/>
              <a:buChar char="•"/>
            </a:pPr>
            <a:endParaRPr lang="es-ES" sz="1800" dirty="0">
              <a:latin typeface="Arial" pitchFamily="34" charset="0"/>
              <a:cs typeface="Arial" pitchFamily="34" charset="0"/>
            </a:endParaRPr>
          </a:p>
          <a:p>
            <a:pPr lvl="2">
              <a:buFont typeface="Arial" pitchFamily="34" charset="0"/>
              <a:buChar char="•"/>
            </a:pPr>
            <a:endParaRPr lang="es-ES" sz="18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324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 Marcador de contenido"/>
          <p:cNvSpPr>
            <a:spLocks noGrp="1"/>
          </p:cNvSpPr>
          <p:nvPr>
            <p:ph idx="1"/>
          </p:nvPr>
        </p:nvSpPr>
        <p:spPr>
          <a:xfrm>
            <a:off x="822960" y="260648"/>
            <a:ext cx="7520940" cy="4419829"/>
          </a:xfrm>
        </p:spPr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s-ES" sz="2000" dirty="0">
                <a:latin typeface="Arial" pitchFamily="34" charset="0"/>
                <a:cs typeface="Arial" pitchFamily="34" charset="0"/>
              </a:rPr>
              <a:t>Cuarta Revolución Industrial. Industria 4.0</a:t>
            </a:r>
          </a:p>
          <a:p>
            <a:pPr lvl="2">
              <a:buFont typeface="Arial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A comenzado recientemente.</a:t>
            </a:r>
          </a:p>
          <a:p>
            <a:pPr lvl="2">
              <a:buFont typeface="Arial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La inteligencia artificial es señalada como elemento central de esta transformación, íntimamente relacionada con la acumulación creciente de grandes cantidades de datos(</a:t>
            </a:r>
            <a:r>
              <a:rPr lang="es-ES" sz="1800" dirty="0" err="1">
                <a:latin typeface="Arial" pitchFamily="34" charset="0"/>
                <a:cs typeface="Arial" pitchFamily="34" charset="0"/>
              </a:rPr>
              <a:t>big</a:t>
            </a:r>
            <a:r>
              <a:rPr lang="es-ES" sz="1800" dirty="0">
                <a:latin typeface="Arial" pitchFamily="34" charset="0"/>
                <a:cs typeface="Arial" pitchFamily="34" charset="0"/>
              </a:rPr>
              <a:t> data), el uso de algoritmos para procesarlos y la interconexión masiva de sistemas y dispositivos digitales.</a:t>
            </a:r>
          </a:p>
          <a:p>
            <a:pPr lvl="2">
              <a:buFont typeface="Arial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Identifica cuál es el objetivo de la Cuarta Revolución Industrial después de ver el video: youtube.com/watch?si=0ErAPZHOi3sgRcgk&amp;v=EeR2yTMW7Xg&amp;feature=youtu.be</a:t>
            </a:r>
          </a:p>
          <a:p>
            <a:pPr lvl="2">
              <a:buFont typeface="Arial" pitchFamily="34" charset="0"/>
              <a:buChar char="•"/>
            </a:pPr>
            <a:endParaRPr lang="es-ES" sz="1800" dirty="0">
              <a:latin typeface="Arial" pitchFamily="34" charset="0"/>
              <a:cs typeface="Arial" pitchFamily="34" charset="0"/>
            </a:endParaRPr>
          </a:p>
          <a:p>
            <a:pPr lvl="2">
              <a:buFont typeface="Arial" pitchFamily="34" charset="0"/>
              <a:buChar char="•"/>
            </a:pPr>
            <a:endParaRPr lang="es-ES" sz="1800" dirty="0">
              <a:latin typeface="Arial" pitchFamily="34" charset="0"/>
              <a:cs typeface="Arial" pitchFamily="34" charset="0"/>
            </a:endParaRPr>
          </a:p>
          <a:p>
            <a:pPr lvl="2">
              <a:buFont typeface="Arial" pitchFamily="34" charset="0"/>
              <a:buChar char="•"/>
            </a:pPr>
            <a:endParaRPr lang="es-ES" sz="18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2117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Marcador de contenido"/>
          <p:cNvSpPr>
            <a:spLocks noGrp="1"/>
          </p:cNvSpPr>
          <p:nvPr>
            <p:ph idx="1"/>
          </p:nvPr>
        </p:nvSpPr>
        <p:spPr>
          <a:xfrm>
            <a:off x="822960" y="260648"/>
            <a:ext cx="7520940" cy="4419829"/>
          </a:xfrm>
        </p:spPr>
        <p:txBody>
          <a:bodyPr>
            <a:normAutofit fontScale="92500" lnSpcReduction="20000"/>
          </a:bodyPr>
          <a:lstStyle/>
          <a:p>
            <a:pPr>
              <a:buFont typeface="Arial" pitchFamily="34" charset="0"/>
              <a:buChar char="•"/>
            </a:pPr>
            <a:r>
              <a:rPr lang="es-ES" sz="2000" dirty="0">
                <a:latin typeface="Arial" pitchFamily="34" charset="0"/>
                <a:cs typeface="Arial" pitchFamily="34" charset="0"/>
              </a:rPr>
              <a:t>Quinta Revolución Industrial. Industria 5.0</a:t>
            </a:r>
          </a:p>
          <a:p>
            <a:pPr lvl="2">
              <a:buFont typeface="Arial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Está en una fase inicial ya que aun se está trabajando en mejorar y optimizar la Industria 4.0.</a:t>
            </a:r>
          </a:p>
          <a:p>
            <a:pPr lvl="2">
              <a:buFont typeface="Arial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Características:</a:t>
            </a:r>
          </a:p>
          <a:p>
            <a:pPr lvl="3">
              <a:buFont typeface="Arial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El ser humano en el centro del modelo productivo.</a:t>
            </a:r>
          </a:p>
          <a:p>
            <a:pPr lvl="3">
              <a:buFont typeface="Arial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Interconexión</a:t>
            </a:r>
          </a:p>
          <a:p>
            <a:pPr lvl="3">
              <a:buFont typeface="Arial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Sostenibilidad</a:t>
            </a:r>
          </a:p>
          <a:p>
            <a:pPr lvl="3">
              <a:buFont typeface="Arial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Economía circular</a:t>
            </a:r>
          </a:p>
          <a:p>
            <a:pPr lvl="3">
              <a:buFont typeface="Arial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Análisis de datos</a:t>
            </a:r>
          </a:p>
          <a:p>
            <a:pPr lvl="3">
              <a:buFont typeface="Arial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Manufacturación personalizada</a:t>
            </a:r>
          </a:p>
          <a:p>
            <a:pPr lvl="3">
              <a:buFont typeface="Arial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Robots colaborativos o </a:t>
            </a:r>
            <a:r>
              <a:rPr lang="es-ES" sz="1800" dirty="0" err="1">
                <a:latin typeface="Arial" pitchFamily="34" charset="0"/>
                <a:cs typeface="Arial" pitchFamily="34" charset="0"/>
              </a:rPr>
              <a:t>cobots</a:t>
            </a:r>
            <a:endParaRPr lang="es-ES" sz="1800" dirty="0">
              <a:latin typeface="Arial" pitchFamily="34" charset="0"/>
              <a:cs typeface="Arial" pitchFamily="34" charset="0"/>
            </a:endParaRPr>
          </a:p>
          <a:p>
            <a:pPr lvl="3">
              <a:buFont typeface="Arial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La automatización</a:t>
            </a:r>
          </a:p>
          <a:p>
            <a:pPr lvl="3">
              <a:buFont typeface="Arial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Digitalización</a:t>
            </a:r>
          </a:p>
          <a:p>
            <a:pPr lvl="3">
              <a:buFont typeface="Arial" pitchFamily="34" charset="0"/>
              <a:buChar char="•"/>
            </a:pPr>
            <a:endParaRPr lang="es-ES" sz="1800" dirty="0">
              <a:latin typeface="Arial" pitchFamily="34" charset="0"/>
              <a:cs typeface="Arial" pitchFamily="34" charset="0"/>
            </a:endParaRPr>
          </a:p>
          <a:p>
            <a:pPr lvl="2">
              <a:buFont typeface="Arial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Identifica qué tecnologías aplica Repsol para que sus procesos sean cada vez mas seguros, competitivos y sostenibles: https://www.youtube.com/watch?v=7BR994tSu8c</a:t>
            </a:r>
          </a:p>
          <a:p>
            <a:pPr lvl="2">
              <a:buFont typeface="Arial" pitchFamily="34" charset="0"/>
              <a:buChar char="•"/>
            </a:pPr>
            <a:endParaRPr lang="es-ES" sz="1800" dirty="0">
              <a:latin typeface="Arial" pitchFamily="34" charset="0"/>
              <a:cs typeface="Arial" pitchFamily="34" charset="0"/>
            </a:endParaRPr>
          </a:p>
          <a:p>
            <a:pPr lvl="2">
              <a:buFont typeface="Arial" pitchFamily="34" charset="0"/>
              <a:buChar char="•"/>
            </a:pPr>
            <a:endParaRPr lang="es-ES" sz="18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395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22960" y="404664"/>
            <a:ext cx="7520940" cy="4275813"/>
          </a:xfrm>
        </p:spPr>
        <p:txBody>
          <a:bodyPr>
            <a:normAutofit lnSpcReduction="10000"/>
          </a:bodyPr>
          <a:lstStyle/>
          <a:p>
            <a:pPr>
              <a:buFont typeface="Arial" pitchFamily="34" charset="0"/>
              <a:buChar char="•"/>
            </a:pPr>
            <a:r>
              <a:rPr lang="es-ES" sz="2000" dirty="0">
                <a:latin typeface="Arial" pitchFamily="34" charset="0"/>
                <a:cs typeface="Arial" pitchFamily="34" charset="0"/>
              </a:rPr>
              <a:t>Digitalización</a:t>
            </a:r>
          </a:p>
          <a:p>
            <a:pPr lvl="2">
              <a:buFont typeface="Arial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La digitalización es el proceso por el que las organizaciones pueden disponer de toda la información relevante para el producto/proceso/servicio en tiempo adecuado, proporcionada por un entorno conectado en toda la cadena.</a:t>
            </a:r>
          </a:p>
          <a:p>
            <a:pPr lvl="2">
              <a:buFont typeface="Arial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Aspectos:</a:t>
            </a:r>
          </a:p>
          <a:p>
            <a:pPr lvl="3">
              <a:buFont typeface="Arial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Uno de los retos más ambiciosos para los modelos de negocio</a:t>
            </a:r>
          </a:p>
          <a:p>
            <a:pPr lvl="3">
              <a:buFont typeface="Arial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La innovación tecnológica debe ir acompañada de la innovación en el modelo de negocio.</a:t>
            </a:r>
          </a:p>
          <a:p>
            <a:pPr lvl="3">
              <a:buFont typeface="Arial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Nuevas oportunidades de negocio gracias a la gran cantidad de información que se genera a lo largo del ciclo de vida de un producto.</a:t>
            </a:r>
          </a:p>
          <a:p>
            <a:pPr lvl="3">
              <a:buFont typeface="Arial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Desarrollo de nuevas aplicaciones de análisis de comportamientos de consumidores/clientes o tendencias, uso de productos y venta de productos personalizados bajo demanda.</a:t>
            </a:r>
          </a:p>
          <a:p>
            <a:pPr lvl="3">
              <a:buFont typeface="Arial" pitchFamily="34" charset="0"/>
              <a:buChar char="•"/>
            </a:pPr>
            <a:endParaRPr lang="es-ES" sz="18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3913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22960" y="404664"/>
            <a:ext cx="7520940" cy="4536504"/>
          </a:xfrm>
        </p:spPr>
        <p:txBody>
          <a:bodyPr>
            <a:normAutofit lnSpcReduction="10000"/>
          </a:bodyPr>
          <a:lstStyle/>
          <a:p>
            <a:pPr>
              <a:buClr>
                <a:srgbClr val="FF0000"/>
              </a:buClr>
              <a:buFont typeface="Arial" pitchFamily="34" charset="0"/>
              <a:buChar char="•"/>
            </a:pPr>
            <a:r>
              <a:rPr lang="es-ES" sz="1800" b="0" dirty="0">
                <a:latin typeface="Arial" pitchFamily="34" charset="0"/>
                <a:cs typeface="Arial" pitchFamily="34" charset="0"/>
              </a:rPr>
              <a:t>A desarrollar mediante el siguiente proceso:</a:t>
            </a:r>
          </a:p>
          <a:p>
            <a:pPr lvl="2">
              <a:buClr>
                <a:srgbClr val="FF0000"/>
              </a:buClr>
              <a:buFont typeface="Arial" pitchFamily="34" charset="0"/>
              <a:buChar char="•"/>
            </a:pPr>
            <a:r>
              <a:rPr lang="es-ES" sz="1800" b="1" dirty="0">
                <a:latin typeface="Arial" pitchFamily="34" charset="0"/>
                <a:cs typeface="Arial" pitchFamily="34" charset="0"/>
              </a:rPr>
              <a:t>Automatización</a:t>
            </a:r>
            <a:r>
              <a:rPr lang="es-ES" sz="1800" dirty="0">
                <a:latin typeface="Arial" pitchFamily="34" charset="0"/>
                <a:cs typeface="Arial" pitchFamily="34" charset="0"/>
              </a:rPr>
              <a:t>: </a:t>
            </a:r>
            <a:r>
              <a:rPr lang="es-ES" sz="1800" dirty="0" err="1">
                <a:latin typeface="Arial" pitchFamily="34" charset="0"/>
                <a:cs typeface="Arial" pitchFamily="34" charset="0"/>
              </a:rPr>
              <a:t>sensorización</a:t>
            </a:r>
            <a:r>
              <a:rPr lang="es-ES" sz="1800" dirty="0">
                <a:latin typeface="Arial" pitchFamily="34" charset="0"/>
                <a:cs typeface="Arial" pitchFamily="34" charset="0"/>
              </a:rPr>
              <a:t> y robotización de los procesos donde personas y robots trabajan juntos interaccionando directamente entre ellos.</a:t>
            </a:r>
          </a:p>
          <a:p>
            <a:pPr lvl="2">
              <a:buClr>
                <a:srgbClr val="FF0000"/>
              </a:buClr>
              <a:buFont typeface="Arial" pitchFamily="34" charset="0"/>
              <a:buChar char="•"/>
            </a:pPr>
            <a:r>
              <a:rPr lang="es-ES" sz="1800" b="1" dirty="0">
                <a:latin typeface="Arial" pitchFamily="34" charset="0"/>
                <a:cs typeface="Arial" pitchFamily="34" charset="0"/>
              </a:rPr>
              <a:t>Almacenamiento de datos obtenidos</a:t>
            </a:r>
            <a:r>
              <a:rPr lang="es-ES" sz="1800" dirty="0">
                <a:latin typeface="Arial" pitchFamily="34" charset="0"/>
                <a:cs typeface="Arial" pitchFamily="34" charset="0"/>
              </a:rPr>
              <a:t> por los sensores de nuestro proceso y almacenarlos.</a:t>
            </a:r>
          </a:p>
          <a:p>
            <a:pPr lvl="2">
              <a:buClr>
                <a:srgbClr val="FF0000"/>
              </a:buClr>
              <a:buFont typeface="Arial" pitchFamily="34" charset="0"/>
              <a:buChar char="•"/>
            </a:pPr>
            <a:r>
              <a:rPr lang="es-ES" sz="1800" b="1" dirty="0">
                <a:latin typeface="Arial" pitchFamily="34" charset="0"/>
                <a:cs typeface="Arial" pitchFamily="34" charset="0"/>
              </a:rPr>
              <a:t>Análisis de los datos</a:t>
            </a:r>
            <a:r>
              <a:rPr lang="es-ES" sz="1800" b="0" dirty="0">
                <a:latin typeface="Arial" pitchFamily="34" charset="0"/>
                <a:cs typeface="Arial" pitchFamily="34" charset="0"/>
              </a:rPr>
              <a:t>: de manera masiva por medio de SFW e IA que permita adoptar soluciones de manera autónoma y posibilite la optimización del proceso, abriendo la posibilidad de comercializar los datos y/o contratar servicios a medida.</a:t>
            </a:r>
          </a:p>
          <a:p>
            <a:pPr lvl="2">
              <a:buClr>
                <a:srgbClr val="FF0000"/>
              </a:buClr>
              <a:buFont typeface="Arial" pitchFamily="34" charset="0"/>
              <a:buChar char="•"/>
            </a:pPr>
            <a:r>
              <a:rPr lang="es-ES" sz="1800" b="1" dirty="0">
                <a:latin typeface="Arial" pitchFamily="34" charset="0"/>
                <a:cs typeface="Arial" pitchFamily="34" charset="0"/>
              </a:rPr>
              <a:t>Interconexión autónoma de los sistemas</a:t>
            </a:r>
            <a:r>
              <a:rPr lang="es-ES" sz="1800" dirty="0">
                <a:latin typeface="Arial" pitchFamily="34" charset="0"/>
                <a:cs typeface="Arial" pitchFamily="34" charset="0"/>
              </a:rPr>
              <a:t>: empleando sistemas de realidad aumentada y permitiendo la </a:t>
            </a:r>
            <a:r>
              <a:rPr lang="es-ES" sz="1800" dirty="0" err="1">
                <a:latin typeface="Arial" pitchFamily="34" charset="0"/>
                <a:cs typeface="Arial" pitchFamily="34" charset="0"/>
              </a:rPr>
              <a:t>customización</a:t>
            </a:r>
            <a:r>
              <a:rPr lang="es-ES" sz="1800" dirty="0">
                <a:latin typeface="Arial" pitchFamily="34" charset="0"/>
                <a:cs typeface="Arial" pitchFamily="34" charset="0"/>
              </a:rPr>
              <a:t>.</a:t>
            </a:r>
          </a:p>
          <a:p>
            <a:pPr lvl="2">
              <a:buClr>
                <a:srgbClr val="FF0000"/>
              </a:buClr>
              <a:buFont typeface="Arial" pitchFamily="34" charset="0"/>
              <a:buChar char="•"/>
            </a:pPr>
            <a:r>
              <a:rPr lang="es-ES" sz="1800" b="1" dirty="0" err="1">
                <a:latin typeface="Arial" pitchFamily="34" charset="0"/>
                <a:cs typeface="Arial" pitchFamily="34" charset="0"/>
              </a:rPr>
              <a:t>Sensorización</a:t>
            </a:r>
            <a:r>
              <a:rPr lang="es-ES" sz="1800" b="1" dirty="0">
                <a:latin typeface="Arial" pitchFamily="34" charset="0"/>
                <a:cs typeface="Arial" pitchFamily="34" charset="0"/>
              </a:rPr>
              <a:t> y/o implementación de SFW en los productos</a:t>
            </a:r>
            <a:r>
              <a:rPr lang="es-ES" sz="1800" b="0" dirty="0">
                <a:latin typeface="Arial" pitchFamily="34" charset="0"/>
                <a:cs typeface="Arial" pitchFamily="34" charset="0"/>
              </a:rPr>
              <a:t>: que ofrecemos para que faciliten datos que permitan su control y análisis.</a:t>
            </a:r>
          </a:p>
          <a:p>
            <a:pPr lvl="2">
              <a:buClr>
                <a:srgbClr val="FF0000"/>
              </a:buClr>
              <a:buFont typeface="Arial" pitchFamily="34" charset="0"/>
              <a:buChar char="•"/>
            </a:pPr>
            <a:r>
              <a:rPr lang="es-ES" sz="1800" b="1" dirty="0">
                <a:latin typeface="Arial" pitchFamily="34" charset="0"/>
                <a:cs typeface="Arial" pitchFamily="34" charset="0"/>
              </a:rPr>
              <a:t>Transformación hacia la prestación de servicios</a:t>
            </a:r>
            <a:r>
              <a:rPr lang="es-ES" sz="1800" dirty="0">
                <a:latin typeface="Arial" pitchFamily="34" charset="0"/>
                <a:cs typeface="Arial" pitchFamily="34" charset="0"/>
              </a:rPr>
              <a:t>: desarrollando software de </a:t>
            </a:r>
            <a:r>
              <a:rPr lang="es-ES" sz="1800" dirty="0" err="1">
                <a:latin typeface="Arial" pitchFamily="34" charset="0"/>
                <a:cs typeface="Arial" pitchFamily="34" charset="0"/>
              </a:rPr>
              <a:t>analisis</a:t>
            </a:r>
            <a:r>
              <a:rPr lang="es-ES" sz="1800" dirty="0">
                <a:latin typeface="Arial" pitchFamily="34" charset="0"/>
                <a:cs typeface="Arial" pitchFamily="34" charset="0"/>
              </a:rPr>
              <a:t> que nos permita: </a:t>
            </a:r>
            <a:endParaRPr lang="es-ES" sz="1800" b="0" dirty="0">
              <a:latin typeface="Arial" pitchFamily="34" charset="0"/>
              <a:cs typeface="Arial" pitchFamily="34" charset="0"/>
            </a:endParaRPr>
          </a:p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40941955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22960" y="548680"/>
            <a:ext cx="7520940" cy="4131797"/>
          </a:xfrm>
        </p:spPr>
        <p:txBody>
          <a:bodyPr>
            <a:normAutofit/>
          </a:bodyPr>
          <a:lstStyle/>
          <a:p>
            <a:pPr>
              <a:buClr>
                <a:srgbClr val="FF0000"/>
              </a:buClr>
              <a:buFont typeface="Arial" pitchFamily="34" charset="0"/>
              <a:buChar char="•"/>
            </a:pPr>
            <a:r>
              <a:rPr lang="es-ES" sz="1800" b="0" dirty="0">
                <a:latin typeface="Arial" pitchFamily="34" charset="0"/>
                <a:cs typeface="Arial" pitchFamily="34" charset="0"/>
              </a:rPr>
              <a:t>Ofrecer a nuestros clientes servicios personalizados de optimización de sus procesos.</a:t>
            </a:r>
          </a:p>
          <a:p>
            <a:pPr>
              <a:buClr>
                <a:srgbClr val="FF0000"/>
              </a:buClr>
              <a:buFont typeface="Arial" pitchFamily="34" charset="0"/>
              <a:buChar char="•"/>
            </a:pPr>
            <a:r>
              <a:rPr lang="es-ES" sz="1800" b="0" dirty="0">
                <a:latin typeface="Arial" pitchFamily="34" charset="0"/>
                <a:cs typeface="Arial" pitchFamily="34" charset="0"/>
              </a:rPr>
              <a:t>Ofrecer a nuestros clientes productos ajustados a sus necesidades.</a:t>
            </a:r>
          </a:p>
          <a:p>
            <a:pPr>
              <a:buClr>
                <a:srgbClr val="FF0000"/>
              </a:buClr>
              <a:buFont typeface="Arial" pitchFamily="34" charset="0"/>
              <a:buChar char="•"/>
            </a:pPr>
            <a:r>
              <a:rPr lang="es-ES" sz="1800" b="0" dirty="0">
                <a:latin typeface="Arial" pitchFamily="34" charset="0"/>
                <a:cs typeface="Arial" pitchFamily="34" charset="0"/>
              </a:rPr>
              <a:t>Mejorar nuestro producto mediante el </a:t>
            </a:r>
            <a:r>
              <a:rPr lang="es-ES" sz="1800" b="0" dirty="0" err="1">
                <a:latin typeface="Arial" pitchFamily="34" charset="0"/>
                <a:cs typeface="Arial" pitchFamily="34" charset="0"/>
              </a:rPr>
              <a:t>analisis</a:t>
            </a:r>
            <a:r>
              <a:rPr lang="es-ES" sz="1800" b="0" dirty="0">
                <a:latin typeface="Arial" pitchFamily="34" charset="0"/>
                <a:cs typeface="Arial" pitchFamily="34" charset="0"/>
              </a:rPr>
              <a:t> de los datos obtenidos durante su uso por todos los clientes (I+D+I).</a:t>
            </a:r>
          </a:p>
          <a:p>
            <a:pPr>
              <a:buClr>
                <a:srgbClr val="FF0000"/>
              </a:buClr>
              <a:buFont typeface="Arial" pitchFamily="34" charset="0"/>
              <a:buChar char="•"/>
            </a:pPr>
            <a:r>
              <a:rPr lang="es-ES" sz="1800" b="0" dirty="0">
                <a:latin typeface="Arial" pitchFamily="34" charset="0"/>
                <a:cs typeface="Arial" pitchFamily="34" charset="0"/>
              </a:rPr>
              <a:t>Comercialización de los datos.</a:t>
            </a:r>
          </a:p>
          <a:p>
            <a:pPr>
              <a:buClr>
                <a:srgbClr val="FF0000"/>
              </a:buClr>
              <a:buFont typeface="Arial" pitchFamily="34" charset="0"/>
              <a:buChar char="•"/>
            </a:pPr>
            <a:endParaRPr lang="es-ES" sz="1800" b="0" dirty="0">
              <a:latin typeface="Arial" pitchFamily="34" charset="0"/>
              <a:cs typeface="Arial" pitchFamily="34" charset="0"/>
            </a:endParaRPr>
          </a:p>
          <a:p>
            <a:pPr>
              <a:buClr>
                <a:srgbClr val="FF0000"/>
              </a:buClr>
              <a:buFont typeface="Arial" pitchFamily="34" charset="0"/>
              <a:buChar char="•"/>
            </a:pPr>
            <a:r>
              <a:rPr lang="es-ES" sz="1800" b="0" dirty="0">
                <a:latin typeface="Arial" pitchFamily="34" charset="0"/>
                <a:cs typeface="Arial" pitchFamily="34" charset="0"/>
              </a:rPr>
              <a:t>Actividad: Retos y oportunidades de la Cuarta Revolución Industrial: </a:t>
            </a:r>
            <a:r>
              <a:rPr lang="es-ES" sz="1800" b="0" dirty="0">
                <a:latin typeface="Arial" pitchFamily="34" charset="0"/>
                <a:cs typeface="Arial" pitchFamily="34" charset="0"/>
                <a:hlinkClick r:id="rId2"/>
              </a:rPr>
              <a:t>https://youtu.be/0fVvCgs8oQg?list=PLapjNZJIttkvS2G7j8eIgmud3gXhsdM9z</a:t>
            </a:r>
            <a:endParaRPr lang="es-ES" sz="1800" b="0" dirty="0">
              <a:latin typeface="Arial" pitchFamily="34" charset="0"/>
              <a:cs typeface="Arial" pitchFamily="34" charset="0"/>
            </a:endParaRPr>
          </a:p>
          <a:p>
            <a:pPr>
              <a:buClr>
                <a:srgbClr val="FF0000"/>
              </a:buClr>
              <a:buFont typeface="Arial" pitchFamily="34" charset="0"/>
              <a:buChar char="•"/>
            </a:pPr>
            <a:endParaRPr lang="es-ES" sz="1800" b="0" dirty="0">
              <a:latin typeface="Arial" pitchFamily="34" charset="0"/>
              <a:cs typeface="Arial" pitchFamily="34" charset="0"/>
            </a:endParaRPr>
          </a:p>
          <a:p>
            <a:pPr>
              <a:buClr>
                <a:srgbClr val="FF0000"/>
              </a:buClr>
              <a:buFont typeface="Arial" pitchFamily="34" charset="0"/>
              <a:buChar char="•"/>
            </a:pPr>
            <a:endParaRPr lang="es-ES_tradnl" sz="1800" b="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098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22960" y="404664"/>
            <a:ext cx="7520940" cy="4680520"/>
          </a:xfrm>
        </p:spPr>
        <p:txBody>
          <a:bodyPr>
            <a:normAutofit fontScale="92500" lnSpcReduction="10000"/>
          </a:bodyPr>
          <a:lstStyle/>
          <a:p>
            <a:pPr>
              <a:buFont typeface="Arial" pitchFamily="34" charset="0"/>
              <a:buChar char="•"/>
            </a:pPr>
            <a:r>
              <a:rPr lang="es-ES" sz="2000" dirty="0">
                <a:latin typeface="Arial" pitchFamily="34" charset="0"/>
                <a:cs typeface="Arial" pitchFamily="34" charset="0"/>
              </a:rPr>
              <a:t>Sistemas </a:t>
            </a:r>
            <a:r>
              <a:rPr lang="es-ES" sz="2000" dirty="0" err="1">
                <a:latin typeface="Arial" pitchFamily="34" charset="0"/>
                <a:cs typeface="Arial" pitchFamily="34" charset="0"/>
              </a:rPr>
              <a:t>ciberfísicos</a:t>
            </a:r>
            <a:endParaRPr lang="es-ES" sz="2000" dirty="0">
              <a:latin typeface="Arial" pitchFamily="34" charset="0"/>
              <a:cs typeface="Arial" pitchFamily="34" charset="0"/>
            </a:endParaRPr>
          </a:p>
          <a:p>
            <a:pPr lvl="2">
              <a:buClr>
                <a:srgbClr val="FF0000"/>
              </a:buClr>
              <a:buFont typeface="Arial" pitchFamily="34" charset="0"/>
              <a:buChar char="•"/>
            </a:pPr>
            <a:r>
              <a:rPr lang="es-ES" sz="1800" b="0" dirty="0">
                <a:latin typeface="Arial" pitchFamily="34" charset="0"/>
                <a:cs typeface="Arial" pitchFamily="34" charset="0"/>
              </a:rPr>
              <a:t>Integra capacidad informática, almacenamiento y comunicación, junto con capacidades de seguimiento y/o control de objetos en el mundo físico.</a:t>
            </a:r>
          </a:p>
          <a:p>
            <a:pPr lvl="2">
              <a:buClr>
                <a:srgbClr val="FF0000"/>
              </a:buClr>
              <a:buFont typeface="Arial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Las características esenciales de estos sistemas son su capacidad de relacionarse con los objetos físicos para monitorizar y/o controlar y la utilización de la información disponible en el mundo virtual.</a:t>
            </a:r>
          </a:p>
          <a:p>
            <a:pPr lvl="2">
              <a:buClr>
                <a:srgbClr val="FF0000"/>
              </a:buClr>
              <a:buFont typeface="Arial" pitchFamily="34" charset="0"/>
              <a:buChar char="•"/>
            </a:pPr>
            <a:r>
              <a:rPr lang="es-ES" sz="1800" b="0" dirty="0">
                <a:latin typeface="Arial" pitchFamily="34" charset="0"/>
                <a:cs typeface="Arial" pitchFamily="34" charset="0"/>
              </a:rPr>
              <a:t>El mayor reto que plantean estos sistemas es demostrar su fiabilidad, seguridad y robustez en todas sus posibles situaciones.</a:t>
            </a:r>
          </a:p>
          <a:p>
            <a:pPr lvl="2">
              <a:buClr>
                <a:srgbClr val="FF0000"/>
              </a:buClr>
              <a:buFont typeface="Arial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Ejemplos de CPS incluyen la red eléctrica inteligente, sistemas de automóvil autónomo, sistemas de monitorización medica, sistemas de control de procesos, monitorización de procesos de fabricación, monitorización de infraestructuras y carreteras, sistemas de robótica, domótica y pilotos automáticos aeronáuticos.</a:t>
            </a:r>
          </a:p>
          <a:p>
            <a:pPr lvl="2">
              <a:buClr>
                <a:srgbClr val="FF0000"/>
              </a:buClr>
              <a:buFont typeface="Arial" pitchFamily="34" charset="0"/>
              <a:buChar char="•"/>
            </a:pPr>
            <a:r>
              <a:rPr lang="es-ES" sz="1800" b="0" dirty="0">
                <a:latin typeface="Arial" pitchFamily="34" charset="0"/>
                <a:cs typeface="Arial" pitchFamily="34" charset="0"/>
              </a:rPr>
              <a:t>Mostrar las ventajas de los CPS en algún área de aplicación. Diseñamos una tabla que contenga las siguientes columnas: Área de aplicación/Ventajas/Ilustración del campo de aplicación.</a:t>
            </a:r>
          </a:p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111685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22960" y="404664"/>
            <a:ext cx="7520940" cy="4680520"/>
          </a:xfrm>
        </p:spPr>
        <p:txBody>
          <a:bodyPr>
            <a:normAutofit fontScale="92500"/>
          </a:bodyPr>
          <a:lstStyle/>
          <a:p>
            <a:pPr>
              <a:buFont typeface="Arial" pitchFamily="34" charset="0"/>
              <a:buChar char="•"/>
            </a:pPr>
            <a:r>
              <a:rPr lang="es-ES" sz="2000" dirty="0">
                <a:latin typeface="Arial" pitchFamily="34" charset="0"/>
                <a:cs typeface="Arial" pitchFamily="34" charset="0"/>
              </a:rPr>
              <a:t>Estructura de la empresa. Digitalización de sus unidades.</a:t>
            </a:r>
          </a:p>
          <a:p>
            <a:pPr marL="342900" lvl="2" indent="-342900">
              <a:spcBef>
                <a:spcPts val="800"/>
              </a:spcBef>
              <a:buClr>
                <a:srgbClr val="FF0000"/>
              </a:buClr>
              <a:buFont typeface="Arial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Implica transformar sus unidades y procesos por cada línea de negocio y actividad de la organización.</a:t>
            </a:r>
          </a:p>
          <a:p>
            <a:pPr marL="342900" lvl="2" indent="-342900">
              <a:spcBef>
                <a:spcPts val="800"/>
              </a:spcBef>
              <a:buClr>
                <a:srgbClr val="FF0000"/>
              </a:buClr>
              <a:buFont typeface="Arial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La implantación de una industria digital viene condicionada por: sus necesidades y  objetivos, los procesos, los productos y servicios que ofrece, la organización y los recursos humanos que la conforman y la infraestructura.</a:t>
            </a:r>
          </a:p>
          <a:p>
            <a:pPr marL="342900" lvl="2" indent="-342900">
              <a:spcBef>
                <a:spcPts val="800"/>
              </a:spcBef>
              <a:buClr>
                <a:srgbClr val="FF0000"/>
              </a:buClr>
              <a:buFont typeface="Arial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Estructura de una empresa y la digitalización de sus unidades:</a:t>
            </a:r>
          </a:p>
          <a:p>
            <a:pPr marL="571500" lvl="3" indent="-342900">
              <a:spcBef>
                <a:spcPts val="800"/>
              </a:spcBef>
              <a:buClr>
                <a:srgbClr val="FF0000"/>
              </a:buClr>
              <a:buFont typeface="Arial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Unidad de dirección y estrategia digital (Función y Digitalización).</a:t>
            </a:r>
          </a:p>
          <a:p>
            <a:pPr marL="571500" lvl="3" indent="-342900">
              <a:spcBef>
                <a:spcPts val="800"/>
              </a:spcBef>
              <a:buClr>
                <a:srgbClr val="FF0000"/>
              </a:buClr>
              <a:buFont typeface="Arial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Departamento de tecnología de la información-TI (Función y Digitalización).</a:t>
            </a:r>
          </a:p>
          <a:p>
            <a:pPr marL="571500" lvl="3" indent="-342900">
              <a:spcBef>
                <a:spcPts val="800"/>
              </a:spcBef>
              <a:buClr>
                <a:srgbClr val="FF0000"/>
              </a:buClr>
              <a:buFont typeface="Arial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Unidades de negocio o líneas de producto (Función y Digitalización).</a:t>
            </a:r>
          </a:p>
          <a:p>
            <a:pPr marL="571500" lvl="3" indent="-342900">
              <a:spcBef>
                <a:spcPts val="800"/>
              </a:spcBef>
              <a:buClr>
                <a:srgbClr val="FF0000"/>
              </a:buClr>
              <a:buFont typeface="Arial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Recursos humanos y desarrollo de talento (Función y Digitalización).</a:t>
            </a:r>
          </a:p>
          <a:p>
            <a:pPr marL="571500" lvl="3" indent="-342900">
              <a:spcBef>
                <a:spcPts val="800"/>
              </a:spcBef>
              <a:buClr>
                <a:srgbClr val="FF0000"/>
              </a:buClr>
              <a:buFont typeface="Arial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Ventas y Marketing (Función y Digitalización).</a:t>
            </a:r>
          </a:p>
          <a:p>
            <a:pPr marL="571500" lvl="3" indent="-342900">
              <a:spcBef>
                <a:spcPts val="800"/>
              </a:spcBef>
              <a:buClr>
                <a:srgbClr val="FF0000"/>
              </a:buClr>
              <a:buFont typeface="Arial" pitchFamily="34" charset="0"/>
              <a:buChar char="•"/>
            </a:pPr>
            <a:endParaRPr lang="es-ES" sz="1800" dirty="0">
              <a:latin typeface="Arial" pitchFamily="34" charset="0"/>
              <a:cs typeface="Arial" pitchFamily="34" charset="0"/>
            </a:endParaRPr>
          </a:p>
          <a:p>
            <a:pPr marL="571500" lvl="3" indent="-342900">
              <a:spcBef>
                <a:spcPts val="800"/>
              </a:spcBef>
              <a:buClr>
                <a:srgbClr val="FF0000"/>
              </a:buClr>
              <a:buFont typeface="Arial" pitchFamily="34" charset="0"/>
              <a:buChar char="•"/>
            </a:pPr>
            <a:endParaRPr lang="es-ES" sz="1800" dirty="0">
              <a:latin typeface="Arial" pitchFamily="34" charset="0"/>
              <a:cs typeface="Arial" pitchFamily="34" charset="0"/>
            </a:endParaRPr>
          </a:p>
          <a:p>
            <a:pPr marL="571500" lvl="3" indent="-342900">
              <a:spcBef>
                <a:spcPts val="800"/>
              </a:spcBef>
              <a:buClr>
                <a:srgbClr val="FF0000"/>
              </a:buClr>
              <a:buFont typeface="Arial" pitchFamily="34" charset="0"/>
              <a:buChar char="•"/>
            </a:pPr>
            <a:endParaRPr lang="es-ES" sz="1800" dirty="0">
              <a:latin typeface="Arial" pitchFamily="34" charset="0"/>
              <a:cs typeface="Arial" pitchFamily="34" charset="0"/>
            </a:endParaRPr>
          </a:p>
          <a:p>
            <a:pPr marL="571500" lvl="3" indent="-342900">
              <a:spcBef>
                <a:spcPts val="800"/>
              </a:spcBef>
              <a:buClr>
                <a:srgbClr val="FF0000"/>
              </a:buClr>
              <a:buFont typeface="Arial" pitchFamily="34" charset="0"/>
              <a:buChar char="•"/>
            </a:pPr>
            <a:endParaRPr lang="es-ES" sz="1800" dirty="0">
              <a:latin typeface="Arial" pitchFamily="34" charset="0"/>
              <a:cs typeface="Arial" pitchFamily="34" charset="0"/>
            </a:endParaRPr>
          </a:p>
          <a:p>
            <a:pPr marL="571500" lvl="3" indent="-342900">
              <a:spcBef>
                <a:spcPts val="800"/>
              </a:spcBef>
              <a:buClr>
                <a:srgbClr val="FF0000"/>
              </a:buClr>
            </a:pPr>
            <a:endParaRPr lang="es-ES" sz="1800" dirty="0">
              <a:latin typeface="Arial" pitchFamily="34" charset="0"/>
              <a:cs typeface="Arial" pitchFamily="34" charset="0"/>
            </a:endParaRPr>
          </a:p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9793955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22960" y="476672"/>
            <a:ext cx="7520940" cy="4203805"/>
          </a:xfrm>
        </p:spPr>
        <p:txBody>
          <a:bodyPr/>
          <a:lstStyle/>
          <a:p>
            <a:pPr marL="342900" lvl="3" indent="-342900">
              <a:spcBef>
                <a:spcPts val="800"/>
              </a:spcBef>
              <a:buClr>
                <a:srgbClr val="FF0000"/>
              </a:buClr>
              <a:buFont typeface="Arial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Atención al cliente (Función y Digitalización).</a:t>
            </a:r>
          </a:p>
          <a:p>
            <a:pPr marL="342900" lvl="3" indent="-342900">
              <a:spcBef>
                <a:spcPts val="800"/>
              </a:spcBef>
              <a:buClr>
                <a:srgbClr val="FF0000"/>
              </a:buClr>
              <a:buFont typeface="Arial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Producción y operaciones (Función y Digitalización).</a:t>
            </a:r>
          </a:p>
          <a:p>
            <a:pPr marL="342900" lvl="3" indent="-342900">
              <a:spcBef>
                <a:spcPts val="800"/>
              </a:spcBef>
              <a:buClr>
                <a:srgbClr val="FF0000"/>
              </a:buClr>
              <a:buFont typeface="Arial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Departamento financiero y contabilidad (Función y Digitalización).</a:t>
            </a:r>
          </a:p>
          <a:p>
            <a:pPr marL="342900" lvl="3" indent="-342900">
              <a:spcBef>
                <a:spcPts val="800"/>
              </a:spcBef>
              <a:buClr>
                <a:srgbClr val="FF0000"/>
              </a:buClr>
              <a:buFont typeface="Arial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Gestión de proyectos y desarrollo de productos (Función y Digitalización).</a:t>
            </a:r>
          </a:p>
          <a:p>
            <a:pPr marL="342900" lvl="3" indent="-342900">
              <a:spcBef>
                <a:spcPts val="800"/>
              </a:spcBef>
              <a:buClr>
                <a:srgbClr val="FF0000"/>
              </a:buClr>
              <a:buFont typeface="Arial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Unidad de cumplimiento y seguridad cibernética (Función y Digitalización).</a:t>
            </a:r>
          </a:p>
          <a:p>
            <a:pPr marL="342900" lvl="3" indent="-342900">
              <a:spcBef>
                <a:spcPts val="800"/>
              </a:spcBef>
              <a:buClr>
                <a:srgbClr val="FF0000"/>
              </a:buClr>
              <a:buFont typeface="Arial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Procesos, productos y modelos de negocio. Triple impacto de la Industria 4.0. https://youtu.be/Dk1OkK4BTDY</a:t>
            </a:r>
          </a:p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1013372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22960" y="260648"/>
            <a:ext cx="7520940" cy="4896544"/>
          </a:xfrm>
        </p:spPr>
        <p:txBody>
          <a:bodyPr>
            <a:normAutofit fontScale="92500" lnSpcReduction="10000"/>
          </a:bodyPr>
          <a:lstStyle/>
          <a:p>
            <a:pPr>
              <a:buFont typeface="Arial" pitchFamily="34" charset="0"/>
              <a:buChar char="•"/>
            </a:pPr>
            <a:r>
              <a:rPr lang="es-ES" sz="2000" dirty="0">
                <a:latin typeface="Arial" pitchFamily="34" charset="0"/>
                <a:cs typeface="Arial" pitchFamily="34" charset="0"/>
              </a:rPr>
              <a:t>Entornos IT y OT. Diferencias y similitudes</a:t>
            </a:r>
          </a:p>
          <a:p>
            <a:pPr lvl="2">
              <a:buClr>
                <a:srgbClr val="FF0000"/>
              </a:buClr>
              <a:buFont typeface="Arial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IT- Tecnologías de la información, es la aplicación de ordenadores y equipos de telecomunicación para almacenar, recuperar, trasmitir y manipular datos o información, con frecuencia utilizado en el contexto de los negocios u otras empresas.</a:t>
            </a:r>
          </a:p>
          <a:p>
            <a:pPr lvl="2">
              <a:buClr>
                <a:srgbClr val="FF0000"/>
              </a:buClr>
              <a:buFont typeface="Arial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OT- Tecnologías de la operación, es hardware y software que detecta o provoca un cambio, a través de la supervisión y/o el control directo de los equipos, activos, procesos y eventos industriales.</a:t>
            </a:r>
          </a:p>
          <a:p>
            <a:pPr lvl="2">
              <a:buClr>
                <a:srgbClr val="FF0000"/>
              </a:buClr>
              <a:buFont typeface="Arial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Aunque ambas tecnologías pueden trabajar en conjunto para potenciar sus funcionalidades, sus utilidades son muy distintas y los entornos en los que deben conservarse también difieren.</a:t>
            </a:r>
          </a:p>
          <a:p>
            <a:pPr lvl="2">
              <a:buClr>
                <a:srgbClr val="FF0000"/>
              </a:buClr>
              <a:buFont typeface="Arial" pitchFamily="34" charset="0"/>
              <a:buChar char="•"/>
            </a:pPr>
            <a:r>
              <a:rPr lang="es-ES" sz="1800" i="1" dirty="0">
                <a:latin typeface="Arial" pitchFamily="34" charset="0"/>
                <a:cs typeface="Arial" pitchFamily="34" charset="0"/>
              </a:rPr>
              <a:t>Diferencias entre IT y OT en diferentes ocasiones:</a:t>
            </a:r>
          </a:p>
          <a:p>
            <a:pPr lvl="3">
              <a:buClr>
                <a:srgbClr val="FF0000"/>
              </a:buClr>
              <a:buFont typeface="Arial" pitchFamily="34" charset="0"/>
              <a:buChar char="•"/>
            </a:pPr>
            <a:r>
              <a:rPr lang="es-ES" sz="1800" i="1" dirty="0">
                <a:latin typeface="Arial" pitchFamily="34" charset="0"/>
                <a:cs typeface="Arial" pitchFamily="34" charset="0"/>
              </a:rPr>
              <a:t>Diferencias en tecnología</a:t>
            </a:r>
          </a:p>
          <a:p>
            <a:pPr lvl="3">
              <a:buClr>
                <a:srgbClr val="FF0000"/>
              </a:buClr>
              <a:buFont typeface="Arial" pitchFamily="34" charset="0"/>
              <a:buChar char="•"/>
            </a:pPr>
            <a:r>
              <a:rPr lang="es-ES" sz="1800" i="1" dirty="0">
                <a:latin typeface="Arial" pitchFamily="34" charset="0"/>
                <a:cs typeface="Arial" pitchFamily="34" charset="0"/>
              </a:rPr>
              <a:t>Condiciones de conservación</a:t>
            </a:r>
          </a:p>
          <a:p>
            <a:pPr lvl="3">
              <a:buClr>
                <a:srgbClr val="FF0000"/>
              </a:buClr>
              <a:buFont typeface="Arial" pitchFamily="34" charset="0"/>
              <a:buChar char="•"/>
            </a:pPr>
            <a:r>
              <a:rPr lang="es-ES" sz="1800" i="1" dirty="0">
                <a:latin typeface="Arial" pitchFamily="34" charset="0"/>
                <a:cs typeface="Arial" pitchFamily="34" charset="0"/>
              </a:rPr>
              <a:t>Enfoque de seguridad</a:t>
            </a:r>
          </a:p>
          <a:p>
            <a:pPr lvl="3">
              <a:buClr>
                <a:srgbClr val="FF0000"/>
              </a:buClr>
              <a:buFont typeface="Arial" pitchFamily="34" charset="0"/>
              <a:buChar char="•"/>
            </a:pPr>
            <a:r>
              <a:rPr lang="es-ES" sz="1800" i="1" dirty="0">
                <a:latin typeface="Arial" pitchFamily="34" charset="0"/>
                <a:cs typeface="Arial" pitchFamily="34" charset="0"/>
              </a:rPr>
              <a:t>Protocolo y normativa</a:t>
            </a:r>
          </a:p>
          <a:p>
            <a:pPr lvl="3">
              <a:buClr>
                <a:srgbClr val="FF0000"/>
              </a:buClr>
              <a:buFont typeface="Arial" pitchFamily="34" charset="0"/>
              <a:buChar char="•"/>
            </a:pPr>
            <a:r>
              <a:rPr lang="es-ES" sz="1800" i="1" dirty="0">
                <a:latin typeface="Arial" pitchFamily="34" charset="0"/>
                <a:cs typeface="Arial" pitchFamily="34" charset="0"/>
              </a:rPr>
              <a:t>Datos y procesos</a:t>
            </a:r>
          </a:p>
          <a:p>
            <a:pPr lvl="3">
              <a:buClr>
                <a:srgbClr val="FF0000"/>
              </a:buClr>
              <a:buFont typeface="Arial" pitchFamily="34" charset="0"/>
              <a:buChar char="•"/>
            </a:pPr>
            <a:r>
              <a:rPr lang="es-ES" sz="1800" i="1" dirty="0">
                <a:latin typeface="Arial" pitchFamily="34" charset="0"/>
                <a:cs typeface="Arial" pitchFamily="34" charset="0"/>
              </a:rPr>
              <a:t>Frecuencia de actuación</a:t>
            </a:r>
          </a:p>
          <a:p>
            <a:pPr lvl="3">
              <a:buClr>
                <a:srgbClr val="FF0000"/>
              </a:buClr>
              <a:buFont typeface="Arial" pitchFamily="34" charset="0"/>
              <a:buChar char="•"/>
            </a:pPr>
            <a:endParaRPr lang="es-ES" sz="1800" dirty="0">
              <a:latin typeface="Arial" pitchFamily="34" charset="0"/>
              <a:cs typeface="Arial" pitchFamily="34" charset="0"/>
            </a:endParaRPr>
          </a:p>
          <a:p>
            <a:pPr lvl="3">
              <a:buClr>
                <a:srgbClr val="FF0000"/>
              </a:buClr>
              <a:buFont typeface="Arial" pitchFamily="34" charset="0"/>
              <a:buChar char="•"/>
            </a:pPr>
            <a:endParaRPr lang="es-ES" sz="1800" dirty="0">
              <a:latin typeface="Arial" pitchFamily="34" charset="0"/>
              <a:cs typeface="Arial" pitchFamily="34" charset="0"/>
            </a:endParaRPr>
          </a:p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4390584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22960" y="260648"/>
            <a:ext cx="7520940" cy="4896544"/>
          </a:xfrm>
        </p:spPr>
        <p:txBody>
          <a:bodyPr>
            <a:normAutofit lnSpcReduction="10000"/>
          </a:bodyPr>
          <a:lstStyle/>
          <a:p>
            <a:pPr>
              <a:buFont typeface="Arial" pitchFamily="34" charset="0"/>
              <a:buChar char="•"/>
            </a:pPr>
            <a:r>
              <a:rPr lang="es-ES" sz="1900" dirty="0">
                <a:latin typeface="Arial" pitchFamily="34" charset="0"/>
                <a:cs typeface="Arial" pitchFamily="34" charset="0"/>
              </a:rPr>
              <a:t>Evolución de una empresa clásica a una empresa digitalizada.</a:t>
            </a:r>
          </a:p>
          <a:p>
            <a:pPr lvl="2">
              <a:buFont typeface="Arial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La evolución de una empresa clásica a una empresa digitalizada implica un cambio cultural, la adopción de nuevas tecnologías y la capacitación del personal. Sin embargo las ventajas en términos de eficiencia, calidad, toma de decisiones y capacidad para adaptarse a un entorno empresarial en constante cambio hace que la inversión en digitalización sea estratégica y valiosa.</a:t>
            </a:r>
          </a:p>
          <a:p>
            <a:pPr lvl="3">
              <a:buFont typeface="Arial" pitchFamily="34" charset="0"/>
              <a:buChar char="•"/>
            </a:pPr>
            <a:r>
              <a:rPr lang="es-ES" b="1" dirty="0">
                <a:latin typeface="Arial" pitchFamily="34" charset="0"/>
                <a:cs typeface="Arial" pitchFamily="34" charset="0"/>
              </a:rPr>
              <a:t>Inicio de la conciencia digital</a:t>
            </a:r>
            <a:r>
              <a:rPr lang="es-ES" dirty="0">
                <a:latin typeface="Arial" pitchFamily="34" charset="0"/>
                <a:cs typeface="Arial" pitchFamily="34" charset="0"/>
              </a:rPr>
              <a:t>: reconocimiento de la importancia de la digitalización en la eficiencia y competitividad.</a:t>
            </a:r>
          </a:p>
          <a:p>
            <a:pPr lvl="3">
              <a:buFont typeface="Arial" pitchFamily="34" charset="0"/>
              <a:buChar char="•"/>
            </a:pPr>
            <a:r>
              <a:rPr lang="es-ES" b="1" dirty="0">
                <a:latin typeface="Arial" pitchFamily="34" charset="0"/>
                <a:cs typeface="Arial" pitchFamily="34" charset="0"/>
              </a:rPr>
              <a:t>Implementación de tecnologías básicas</a:t>
            </a:r>
            <a:r>
              <a:rPr lang="es-ES" dirty="0">
                <a:latin typeface="Arial" pitchFamily="34" charset="0"/>
                <a:cs typeface="Arial" pitchFamily="34" charset="0"/>
              </a:rPr>
              <a:t>: como sistemas ERP y CRM.</a:t>
            </a:r>
          </a:p>
          <a:p>
            <a:pPr lvl="3">
              <a:buFont typeface="Arial" pitchFamily="34" charset="0"/>
              <a:buChar char="•"/>
            </a:pPr>
            <a:r>
              <a:rPr lang="es-ES" b="1" dirty="0">
                <a:latin typeface="Arial" pitchFamily="34" charset="0"/>
                <a:cs typeface="Arial" pitchFamily="34" charset="0"/>
              </a:rPr>
              <a:t>Automatización de procesos clave</a:t>
            </a:r>
            <a:r>
              <a:rPr lang="es-ES" dirty="0">
                <a:latin typeface="Arial" pitchFamily="34" charset="0"/>
                <a:cs typeface="Arial" pitchFamily="34" charset="0"/>
              </a:rPr>
              <a:t>: como la gestión de inventario y la contabilidad.</a:t>
            </a:r>
          </a:p>
          <a:p>
            <a:pPr lvl="3">
              <a:buFont typeface="Arial" pitchFamily="34" charset="0"/>
              <a:buChar char="•"/>
            </a:pPr>
            <a:r>
              <a:rPr lang="es-ES" b="1" dirty="0">
                <a:latin typeface="Arial" pitchFamily="34" charset="0"/>
                <a:cs typeface="Arial" pitchFamily="34" charset="0"/>
              </a:rPr>
              <a:t>Adopción de tecnologías emergentes</a:t>
            </a:r>
            <a:r>
              <a:rPr lang="es-ES" dirty="0">
                <a:latin typeface="Arial" pitchFamily="34" charset="0"/>
                <a:cs typeface="Arial" pitchFamily="34" charset="0"/>
              </a:rPr>
              <a:t>: como IOT, </a:t>
            </a:r>
            <a:r>
              <a:rPr lang="es-ES" dirty="0" err="1">
                <a:latin typeface="Arial" pitchFamily="34" charset="0"/>
                <a:cs typeface="Arial" pitchFamily="34" charset="0"/>
              </a:rPr>
              <a:t>big</a:t>
            </a:r>
            <a:r>
              <a:rPr lang="es-ES" dirty="0">
                <a:latin typeface="Arial" pitchFamily="34" charset="0"/>
                <a:cs typeface="Arial" pitchFamily="34" charset="0"/>
              </a:rPr>
              <a:t> data y analítica.</a:t>
            </a:r>
          </a:p>
          <a:p>
            <a:pPr lvl="3">
              <a:buFont typeface="Arial" pitchFamily="34" charset="0"/>
              <a:buChar char="•"/>
            </a:pPr>
            <a:r>
              <a:rPr lang="es-ES" b="1" dirty="0">
                <a:latin typeface="Arial" pitchFamily="34" charset="0"/>
                <a:cs typeface="Arial" pitchFamily="34" charset="0"/>
              </a:rPr>
              <a:t>Integración de la cadena de valor</a:t>
            </a:r>
            <a:r>
              <a:rPr lang="es-ES" dirty="0">
                <a:latin typeface="Arial" pitchFamily="34" charset="0"/>
                <a:cs typeface="Arial" pitchFamily="34" charset="0"/>
              </a:rPr>
              <a:t>: desde la producción hasta la entrega posventa. </a:t>
            </a:r>
          </a:p>
          <a:p>
            <a:pPr lvl="3">
              <a:buFont typeface="Arial" pitchFamily="34" charset="0"/>
              <a:buChar char="•"/>
            </a:pPr>
            <a:r>
              <a:rPr lang="es-ES" b="1" dirty="0">
                <a:latin typeface="Arial" pitchFamily="34" charset="0"/>
                <a:cs typeface="Arial" pitchFamily="34" charset="0"/>
              </a:rPr>
              <a:t>Cambio cultural y formación</a:t>
            </a:r>
            <a:r>
              <a:rPr lang="es-ES" dirty="0">
                <a:latin typeface="Arial" pitchFamily="34" charset="0"/>
                <a:cs typeface="Arial" pitchFamily="34" charset="0"/>
              </a:rPr>
              <a:t>: fomento de una cultura orientada a la innovación y la adaptabilidad. Formación continua para empleados sobre nuevas tecnologías.</a:t>
            </a:r>
          </a:p>
          <a:p>
            <a:pPr lvl="3">
              <a:buFont typeface="Arial" pitchFamily="34" charset="0"/>
              <a:buChar char="•"/>
            </a:pPr>
            <a:endParaRPr lang="es-ES" dirty="0">
              <a:latin typeface="Arial" pitchFamily="34" charset="0"/>
              <a:cs typeface="Arial" pitchFamily="34" charset="0"/>
            </a:endParaRPr>
          </a:p>
          <a:p>
            <a:pPr lvl="3">
              <a:buFont typeface="Arial" pitchFamily="34" charset="0"/>
              <a:buChar char="•"/>
            </a:pPr>
            <a:endParaRPr lang="es-ES" dirty="0">
              <a:latin typeface="Arial" pitchFamily="34" charset="0"/>
              <a:cs typeface="Arial" pitchFamily="34" charset="0"/>
            </a:endParaRPr>
          </a:p>
          <a:p>
            <a:pPr lvl="3">
              <a:buFont typeface="Arial" pitchFamily="34" charset="0"/>
              <a:buChar char="•"/>
            </a:pPr>
            <a:endParaRPr lang="es-ES" dirty="0">
              <a:latin typeface="Arial" pitchFamily="34" charset="0"/>
              <a:cs typeface="Arial" pitchFamily="34" charset="0"/>
            </a:endParaRPr>
          </a:p>
          <a:p>
            <a:pPr lvl="3">
              <a:buFont typeface="Arial" pitchFamily="34" charset="0"/>
              <a:buChar char="•"/>
            </a:pPr>
            <a:endParaRPr lang="es-ES" sz="1800" dirty="0">
              <a:latin typeface="Arial" pitchFamily="34" charset="0"/>
              <a:cs typeface="Arial" pitchFamily="34" charset="0"/>
            </a:endParaRPr>
          </a:p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8496852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22960" y="260648"/>
            <a:ext cx="7520940" cy="4419829"/>
          </a:xfrm>
        </p:spPr>
        <p:txBody>
          <a:bodyPr/>
          <a:lstStyle/>
          <a:p>
            <a:pPr marL="342900" lvl="3" indent="-342900">
              <a:spcBef>
                <a:spcPts val="800"/>
              </a:spcBef>
              <a:buClr>
                <a:srgbClr val="FF0000"/>
              </a:buClr>
              <a:buFont typeface="Arial" pitchFamily="34" charset="0"/>
              <a:buChar char="•"/>
            </a:pPr>
            <a:r>
              <a:rPr lang="es-ES" b="1" dirty="0">
                <a:latin typeface="Arial" pitchFamily="34" charset="0"/>
                <a:cs typeface="Arial" pitchFamily="34" charset="0"/>
              </a:rPr>
              <a:t>Enfoque en la experiencia del cliente: </a:t>
            </a:r>
            <a:r>
              <a:rPr lang="es-ES" dirty="0">
                <a:latin typeface="Arial" pitchFamily="34" charset="0"/>
                <a:cs typeface="Arial" pitchFamily="34" charset="0"/>
              </a:rPr>
              <a:t>desarrollo de soluciones digitales centradas en mejorar la experiencia del cliente.</a:t>
            </a:r>
          </a:p>
          <a:p>
            <a:pPr marL="342900" lvl="3" indent="-342900">
              <a:spcBef>
                <a:spcPts val="800"/>
              </a:spcBef>
              <a:buClr>
                <a:srgbClr val="FF0000"/>
              </a:buClr>
              <a:buFont typeface="Arial" pitchFamily="34" charset="0"/>
              <a:buChar char="•"/>
            </a:pPr>
            <a:r>
              <a:rPr lang="es-ES" b="1" dirty="0">
                <a:latin typeface="Arial" pitchFamily="34" charset="0"/>
                <a:cs typeface="Arial" pitchFamily="34" charset="0"/>
              </a:rPr>
              <a:t>Agilidad y flexibilidad empresarial</a:t>
            </a:r>
            <a:r>
              <a:rPr lang="es-ES" dirty="0">
                <a:latin typeface="Arial" pitchFamily="34" charset="0"/>
                <a:cs typeface="Arial" pitchFamily="34" charset="0"/>
              </a:rPr>
              <a:t>: adopción de metodologías agiles para permitir cambios rápidos y adaptación continua.</a:t>
            </a:r>
          </a:p>
          <a:p>
            <a:pPr marL="342900" lvl="3" indent="-342900">
              <a:spcBef>
                <a:spcPts val="800"/>
              </a:spcBef>
              <a:buClr>
                <a:srgbClr val="FF0000"/>
              </a:buClr>
              <a:buFont typeface="Arial" pitchFamily="34" charset="0"/>
              <a:buChar char="•"/>
            </a:pPr>
            <a:r>
              <a:rPr lang="es-ES" b="1" dirty="0">
                <a:latin typeface="Arial" pitchFamily="34" charset="0"/>
                <a:cs typeface="Arial" pitchFamily="34" charset="0"/>
              </a:rPr>
              <a:t>Gestión de daros estratégica</a:t>
            </a:r>
            <a:r>
              <a:rPr lang="es-ES" dirty="0">
                <a:latin typeface="Arial" pitchFamily="34" charset="0"/>
                <a:cs typeface="Arial" pitchFamily="34" charset="0"/>
              </a:rPr>
              <a:t>: para la toma de decisiones basada en datos.</a:t>
            </a:r>
          </a:p>
          <a:p>
            <a:pPr marL="342900" lvl="3" indent="-342900">
              <a:spcBef>
                <a:spcPts val="800"/>
              </a:spcBef>
              <a:buClr>
                <a:srgbClr val="FF0000"/>
              </a:buClr>
              <a:buFont typeface="Arial" pitchFamily="34" charset="0"/>
              <a:buChar char="•"/>
            </a:pPr>
            <a:r>
              <a:rPr lang="es-ES" b="1" dirty="0">
                <a:latin typeface="Arial" pitchFamily="34" charset="0"/>
                <a:cs typeface="Arial" pitchFamily="34" charset="0"/>
              </a:rPr>
              <a:t>Modelos de negocio innovadores</a:t>
            </a:r>
            <a:r>
              <a:rPr lang="es-ES" dirty="0">
                <a:latin typeface="Arial" pitchFamily="34" charset="0"/>
                <a:cs typeface="Arial" pitchFamily="34" charset="0"/>
              </a:rPr>
              <a:t>: exploración de nuevos modelos de negocio habilitados por la digitalización.</a:t>
            </a:r>
          </a:p>
          <a:p>
            <a:pPr marL="342900" lvl="3" indent="-342900">
              <a:spcBef>
                <a:spcPts val="800"/>
              </a:spcBef>
              <a:buClr>
                <a:srgbClr val="FF0000"/>
              </a:buClr>
              <a:buFont typeface="Arial" pitchFamily="34" charset="0"/>
              <a:buChar char="•"/>
            </a:pPr>
            <a:endParaRPr lang="es-ES" dirty="0">
              <a:latin typeface="Arial" pitchFamily="34" charset="0"/>
              <a:cs typeface="Arial" pitchFamily="34" charset="0"/>
            </a:endParaRPr>
          </a:p>
          <a:p>
            <a:pPr marL="342900" lvl="3" indent="-342900">
              <a:spcBef>
                <a:spcPts val="800"/>
              </a:spcBef>
              <a:buClr>
                <a:srgbClr val="FF0000"/>
              </a:buClr>
              <a:buFont typeface="Arial" pitchFamily="34" charset="0"/>
              <a:buChar char="•"/>
            </a:pP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5171776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22960" y="260648"/>
            <a:ext cx="7520940" cy="4824536"/>
          </a:xfrm>
        </p:spPr>
        <p:txBody>
          <a:bodyPr>
            <a:normAutofit fontScale="92500" lnSpcReduction="10000"/>
          </a:bodyPr>
          <a:lstStyle/>
          <a:p>
            <a:pPr>
              <a:buFont typeface="Arial" pitchFamily="34" charset="0"/>
              <a:buChar char="•"/>
            </a:pPr>
            <a:r>
              <a:rPr lang="es-ES" sz="1900" dirty="0">
                <a:latin typeface="Arial" pitchFamily="34" charset="0"/>
                <a:cs typeface="Arial" pitchFamily="34" charset="0"/>
              </a:rPr>
              <a:t>Evolución de una empresa clásica a una empresa digitalizada.</a:t>
            </a:r>
          </a:p>
          <a:p>
            <a:pPr marL="571500" lvl="3" indent="-342900">
              <a:spcBef>
                <a:spcPts val="800"/>
              </a:spcBef>
              <a:buClr>
                <a:srgbClr val="FF0000"/>
              </a:buClr>
              <a:buFont typeface="Arial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La digitalización de una empresa de extremo a extremo implica la integración y automatización de todos los procesos, desde la producción y la logística hasta la gestión financiera y las interacciones con los clientes.</a:t>
            </a:r>
          </a:p>
          <a:p>
            <a:pPr marL="571500" lvl="3" indent="-342900">
              <a:spcBef>
                <a:spcPts val="800"/>
              </a:spcBef>
              <a:buClr>
                <a:srgbClr val="FF0000"/>
              </a:buClr>
              <a:buFont typeface="Arial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Ventajas significativas:</a:t>
            </a:r>
          </a:p>
          <a:p>
            <a:pPr marL="800100" lvl="4" indent="-342900">
              <a:spcBef>
                <a:spcPts val="800"/>
              </a:spcBef>
              <a:buClr>
                <a:srgbClr val="FF0000"/>
              </a:buClr>
              <a:buFont typeface="Arial" pitchFamily="34" charset="0"/>
              <a:buChar char="•"/>
            </a:pPr>
            <a:r>
              <a:rPr lang="es-ES" dirty="0"/>
              <a:t>Eficiencia operativa </a:t>
            </a:r>
            <a:r>
              <a:rPr lang="es-ES" dirty="0">
                <a:latin typeface="Arial" pitchFamily="34" charset="0"/>
                <a:cs typeface="Arial" pitchFamily="34" charset="0"/>
              </a:rPr>
              <a:t>(antes y después)</a:t>
            </a:r>
          </a:p>
          <a:p>
            <a:pPr marL="800100" lvl="4" indent="-342900">
              <a:spcBef>
                <a:spcPts val="800"/>
              </a:spcBef>
              <a:buClr>
                <a:srgbClr val="FF0000"/>
              </a:buClr>
              <a:buFont typeface="Arial" pitchFamily="34" charset="0"/>
              <a:buChar char="•"/>
            </a:pPr>
            <a:r>
              <a:rPr lang="es-ES" dirty="0"/>
              <a:t>Mejora de la calidad </a:t>
            </a:r>
            <a:r>
              <a:rPr lang="es-ES" dirty="0">
                <a:latin typeface="Arial" pitchFamily="34" charset="0"/>
                <a:cs typeface="Arial" pitchFamily="34" charset="0"/>
              </a:rPr>
              <a:t>(antes y después)</a:t>
            </a:r>
          </a:p>
          <a:p>
            <a:pPr marL="800100" lvl="4" indent="-342900">
              <a:spcBef>
                <a:spcPts val="800"/>
              </a:spcBef>
              <a:buClr>
                <a:srgbClr val="FF0000"/>
              </a:buClr>
              <a:buFont typeface="Arial" pitchFamily="34" charset="0"/>
              <a:buChar char="•"/>
            </a:pPr>
            <a:r>
              <a:rPr lang="es-ES" dirty="0"/>
              <a:t>Mayor flexibilidad y adaptabilidad </a:t>
            </a:r>
            <a:r>
              <a:rPr lang="es-ES" dirty="0">
                <a:latin typeface="Arial" pitchFamily="34" charset="0"/>
                <a:cs typeface="Arial" pitchFamily="34" charset="0"/>
              </a:rPr>
              <a:t>(antes y después)</a:t>
            </a:r>
          </a:p>
          <a:p>
            <a:pPr marL="800100" lvl="4" indent="-342900">
              <a:spcBef>
                <a:spcPts val="800"/>
              </a:spcBef>
              <a:buClr>
                <a:srgbClr val="FF0000"/>
              </a:buClr>
              <a:buFont typeface="Arial" pitchFamily="34" charset="0"/>
              <a:buChar char="•"/>
            </a:pPr>
            <a:r>
              <a:rPr lang="es-ES" dirty="0"/>
              <a:t>Toma de decisiones basada en datos </a:t>
            </a:r>
            <a:r>
              <a:rPr lang="es-ES" dirty="0">
                <a:latin typeface="Arial" pitchFamily="34" charset="0"/>
                <a:cs typeface="Arial" pitchFamily="34" charset="0"/>
              </a:rPr>
              <a:t>(antes y después)</a:t>
            </a:r>
          </a:p>
          <a:p>
            <a:pPr marL="800100" lvl="4" indent="-342900">
              <a:spcBef>
                <a:spcPts val="800"/>
              </a:spcBef>
              <a:buClr>
                <a:srgbClr val="FF0000"/>
              </a:buClr>
              <a:buFont typeface="Arial" pitchFamily="34" charset="0"/>
              <a:buChar char="•"/>
            </a:pPr>
            <a:r>
              <a:rPr lang="es-ES" dirty="0"/>
              <a:t>Experiencia del cliente mejorada </a:t>
            </a:r>
            <a:r>
              <a:rPr lang="es-ES" dirty="0">
                <a:latin typeface="Arial" pitchFamily="34" charset="0"/>
                <a:cs typeface="Arial" pitchFamily="34" charset="0"/>
              </a:rPr>
              <a:t>(antes y después)</a:t>
            </a:r>
          </a:p>
          <a:p>
            <a:pPr marL="800100" lvl="4" indent="-342900">
              <a:spcBef>
                <a:spcPts val="800"/>
              </a:spcBef>
              <a:buClr>
                <a:srgbClr val="FF0000"/>
              </a:buClr>
              <a:buFont typeface="Arial" pitchFamily="34" charset="0"/>
              <a:buChar char="•"/>
            </a:pPr>
            <a:r>
              <a:rPr lang="es-ES" dirty="0"/>
              <a:t>Reducción de costes </a:t>
            </a:r>
            <a:r>
              <a:rPr lang="es-ES" dirty="0">
                <a:latin typeface="Arial" pitchFamily="34" charset="0"/>
                <a:cs typeface="Arial" pitchFamily="34" charset="0"/>
              </a:rPr>
              <a:t>(antes y después)</a:t>
            </a:r>
          </a:p>
          <a:p>
            <a:pPr marL="800100" lvl="4" indent="-342900">
              <a:spcBef>
                <a:spcPts val="800"/>
              </a:spcBef>
              <a:buClr>
                <a:srgbClr val="FF0000"/>
              </a:buClr>
              <a:buFont typeface="Arial" pitchFamily="34" charset="0"/>
              <a:buChar char="•"/>
            </a:pPr>
            <a:r>
              <a:rPr lang="es-ES" dirty="0"/>
              <a:t>Integración de la cadena de suministro </a:t>
            </a:r>
            <a:r>
              <a:rPr lang="es-ES" dirty="0">
                <a:latin typeface="Arial" pitchFamily="34" charset="0"/>
                <a:cs typeface="Arial" pitchFamily="34" charset="0"/>
              </a:rPr>
              <a:t>(antes y después)</a:t>
            </a:r>
          </a:p>
          <a:p>
            <a:pPr marL="800100" lvl="4" indent="-342900">
              <a:spcBef>
                <a:spcPts val="800"/>
              </a:spcBef>
              <a:buClr>
                <a:srgbClr val="FF0000"/>
              </a:buClr>
              <a:buFont typeface="Arial" pitchFamily="34" charset="0"/>
              <a:buChar char="•"/>
            </a:pPr>
            <a:r>
              <a:rPr lang="es-ES" dirty="0"/>
              <a:t>Innovación continua </a:t>
            </a:r>
            <a:r>
              <a:rPr lang="es-ES" dirty="0">
                <a:latin typeface="Arial" pitchFamily="34" charset="0"/>
                <a:cs typeface="Arial" pitchFamily="34" charset="0"/>
              </a:rPr>
              <a:t>(antes y después)</a:t>
            </a:r>
          </a:p>
          <a:p>
            <a:pPr marL="800100" lvl="4" indent="-342900">
              <a:spcBef>
                <a:spcPts val="800"/>
              </a:spcBef>
              <a:buClr>
                <a:srgbClr val="FF0000"/>
              </a:buClr>
              <a:buFont typeface="Arial" pitchFamily="34" charset="0"/>
              <a:buChar char="•"/>
            </a:pPr>
            <a:r>
              <a:rPr lang="es-ES" dirty="0"/>
              <a:t>Mayor competitividad </a:t>
            </a:r>
            <a:r>
              <a:rPr lang="es-ES" dirty="0">
                <a:latin typeface="Arial" pitchFamily="34" charset="0"/>
                <a:cs typeface="Arial" pitchFamily="34" charset="0"/>
              </a:rPr>
              <a:t>(antes y después)</a:t>
            </a:r>
          </a:p>
          <a:p>
            <a:pPr marL="800100" lvl="4" indent="-342900">
              <a:spcBef>
                <a:spcPts val="800"/>
              </a:spcBef>
              <a:buClr>
                <a:srgbClr val="FF0000"/>
              </a:buClr>
              <a:buFont typeface="Arial" pitchFamily="34" charset="0"/>
              <a:buChar char="•"/>
            </a:pPr>
            <a:r>
              <a:rPr lang="es-ES" dirty="0"/>
              <a:t>Mejora en la seguridad </a:t>
            </a:r>
            <a:r>
              <a:rPr lang="es-ES" dirty="0">
                <a:latin typeface="Arial" pitchFamily="34" charset="0"/>
                <a:cs typeface="Arial" pitchFamily="34" charset="0"/>
              </a:rPr>
              <a:t>(antes y después)</a:t>
            </a:r>
          </a:p>
          <a:p>
            <a:pPr marL="800100" lvl="4" indent="-342900">
              <a:spcBef>
                <a:spcPts val="800"/>
              </a:spcBef>
              <a:buClr>
                <a:srgbClr val="FF0000"/>
              </a:buClr>
              <a:buFont typeface="Arial" pitchFamily="34" charset="0"/>
              <a:buChar char="•"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75460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22960" y="188640"/>
            <a:ext cx="7520940" cy="4491837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s-ES" sz="1900" dirty="0">
                <a:latin typeface="Arial" pitchFamily="34" charset="0"/>
                <a:cs typeface="Arial" pitchFamily="34" charset="0"/>
              </a:rPr>
              <a:t>Ventajas resultantes</a:t>
            </a:r>
          </a:p>
          <a:p>
            <a:pPr lvl="2">
              <a:buFont typeface="Arial" pitchFamily="34" charset="0"/>
              <a:buChar char="•"/>
            </a:pPr>
            <a:r>
              <a:rPr lang="es-ES" dirty="0">
                <a:latin typeface="Arial" pitchFamily="34" charset="0"/>
                <a:cs typeface="Arial" pitchFamily="34" charset="0"/>
              </a:rPr>
              <a:t>La digitalización integral de una empresa industrial ofrece beneficios significativos, desde mejoras operativas hasta ventajas estratégicas a largo plazo. Es un proceso continuo que requiere una visión clara, inversión en tecnología y una cultura organizativa que abrace la innovación y la adaptación al cambio.</a:t>
            </a:r>
          </a:p>
          <a:p>
            <a:pPr lvl="3">
              <a:buFont typeface="Arial" pitchFamily="34" charset="0"/>
              <a:buChar char="•"/>
            </a:pPr>
            <a:r>
              <a:rPr lang="es-ES" dirty="0">
                <a:latin typeface="Arial" pitchFamily="34" charset="0"/>
                <a:cs typeface="Arial" pitchFamily="34" charset="0"/>
              </a:rPr>
              <a:t>Mayor productividad y rentabilidad</a:t>
            </a:r>
          </a:p>
          <a:p>
            <a:pPr lvl="3">
              <a:buFont typeface="Arial" pitchFamily="34" charset="0"/>
              <a:buChar char="•"/>
            </a:pPr>
            <a:r>
              <a:rPr lang="es-ES" dirty="0" err="1">
                <a:latin typeface="Arial" pitchFamily="34" charset="0"/>
                <a:cs typeface="Arial" pitchFamily="34" charset="0"/>
              </a:rPr>
              <a:t>Resiliencia</a:t>
            </a:r>
            <a:r>
              <a:rPr lang="es-ES" dirty="0">
                <a:latin typeface="Arial" pitchFamily="34" charset="0"/>
                <a:cs typeface="Arial" pitchFamily="34" charset="0"/>
              </a:rPr>
              <a:t> empresarial</a:t>
            </a:r>
          </a:p>
          <a:p>
            <a:pPr lvl="3">
              <a:buFont typeface="Arial" pitchFamily="34" charset="0"/>
              <a:buChar char="•"/>
            </a:pPr>
            <a:r>
              <a:rPr lang="es-ES" dirty="0">
                <a:latin typeface="Arial" pitchFamily="34" charset="0"/>
                <a:cs typeface="Arial" pitchFamily="34" charset="0"/>
              </a:rPr>
              <a:t>Posicionamiento en el mercado</a:t>
            </a:r>
          </a:p>
          <a:p>
            <a:pPr lvl="3">
              <a:buFont typeface="Arial" pitchFamily="34" charset="0"/>
              <a:buChar char="•"/>
            </a:pPr>
            <a:r>
              <a:rPr lang="es-ES" dirty="0">
                <a:latin typeface="Arial" pitchFamily="34" charset="0"/>
                <a:cs typeface="Arial" pitchFamily="34" charset="0"/>
              </a:rPr>
              <a:t>Satisfacción del cliente</a:t>
            </a:r>
          </a:p>
          <a:p>
            <a:pPr lvl="3">
              <a:buFont typeface="Arial" pitchFamily="34" charset="0"/>
              <a:buChar char="•"/>
            </a:pPr>
            <a:r>
              <a:rPr lang="es-ES" dirty="0">
                <a:latin typeface="Arial" pitchFamily="34" charset="0"/>
                <a:cs typeface="Arial" pitchFamily="34" charset="0"/>
              </a:rPr>
              <a:t>Sostenibilidad empresarial</a:t>
            </a:r>
          </a:p>
          <a:p>
            <a:pPr lvl="3">
              <a:buFont typeface="Arial" pitchFamily="34" charset="0"/>
              <a:buChar char="•"/>
            </a:pPr>
            <a:endParaRPr lang="es-ES" dirty="0">
              <a:latin typeface="Arial" pitchFamily="34" charset="0"/>
              <a:cs typeface="Arial" pitchFamily="34" charset="0"/>
            </a:endParaRPr>
          </a:p>
          <a:p>
            <a:pPr lvl="2">
              <a:buFont typeface="Arial" pitchFamily="34" charset="0"/>
              <a:buChar char="•"/>
            </a:pPr>
            <a:r>
              <a:rPr lang="es-ES" dirty="0">
                <a:latin typeface="Arial" pitchFamily="34" charset="0"/>
                <a:cs typeface="Arial" pitchFamily="34" charset="0"/>
              </a:rPr>
              <a:t>La fábrica inteligente: </a:t>
            </a:r>
            <a:r>
              <a:rPr lang="es-ES" dirty="0">
                <a:latin typeface="Arial" pitchFamily="34" charset="0"/>
                <a:cs typeface="Arial" pitchFamily="34" charset="0"/>
                <a:hlinkClick r:id="rId2"/>
              </a:rPr>
              <a:t>https://www.youtube.com/watch?v=wVD39XT7Q-E</a:t>
            </a:r>
            <a:endParaRPr lang="es-ES" dirty="0">
              <a:latin typeface="Arial" pitchFamily="34" charset="0"/>
              <a:cs typeface="Arial" pitchFamily="34" charset="0"/>
            </a:endParaRPr>
          </a:p>
          <a:p>
            <a:pPr lvl="2">
              <a:buFont typeface="Arial" pitchFamily="34" charset="0"/>
              <a:buChar char="•"/>
            </a:pPr>
            <a:endParaRPr lang="es-ES" dirty="0">
              <a:latin typeface="Arial" pitchFamily="34" charset="0"/>
              <a:cs typeface="Arial" pitchFamily="34" charset="0"/>
            </a:endParaRPr>
          </a:p>
          <a:p>
            <a:pPr lvl="3">
              <a:buFont typeface="Arial" pitchFamily="34" charset="0"/>
              <a:buChar char="•"/>
            </a:pPr>
            <a:endParaRPr lang="es-ES" dirty="0">
              <a:latin typeface="Arial" pitchFamily="34" charset="0"/>
              <a:cs typeface="Arial" pitchFamily="34" charset="0"/>
            </a:endParaRPr>
          </a:p>
          <a:p>
            <a:pPr lvl="2">
              <a:buFont typeface="Arial" pitchFamily="34" charset="0"/>
              <a:buChar char="•"/>
            </a:pPr>
            <a:endParaRPr lang="es-ES" dirty="0">
              <a:latin typeface="Arial" pitchFamily="34" charset="0"/>
              <a:cs typeface="Arial" pitchFamily="34" charset="0"/>
            </a:endParaRPr>
          </a:p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3347379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22960" y="332656"/>
            <a:ext cx="7520940" cy="2376264"/>
          </a:xfrm>
        </p:spPr>
        <p:txBody>
          <a:bodyPr/>
          <a:lstStyle/>
          <a:p>
            <a:r>
              <a:rPr lang="es-ES" sz="1900" dirty="0">
                <a:latin typeface="Arial" pitchFamily="34" charset="0"/>
                <a:cs typeface="Arial" pitchFamily="34" charset="0"/>
              </a:rPr>
              <a:t>Ejercicios de repaso</a:t>
            </a:r>
          </a:p>
          <a:p>
            <a:pPr lvl="2">
              <a:buFont typeface="Arial" pitchFamily="34" charset="0"/>
              <a:buChar char="•"/>
            </a:pPr>
            <a:r>
              <a:rPr lang="es-ES" dirty="0">
                <a:latin typeface="Arial" pitchFamily="34" charset="0"/>
                <a:cs typeface="Arial" pitchFamily="34" charset="0"/>
              </a:rPr>
              <a:t>Lee el siguiente documento: </a:t>
            </a:r>
            <a:r>
              <a:rPr lang="es-ES" dirty="0">
                <a:latin typeface="Arial" pitchFamily="34" charset="0"/>
                <a:cs typeface="Arial" pitchFamily="34" charset="0"/>
                <a:hlinkClick r:id="rId2"/>
              </a:rPr>
              <a:t>https://resources.sw.siemens.com/es-ES/white-paper-smart-factory-guide-for-manufacturers/</a:t>
            </a:r>
            <a:endParaRPr lang="es-ES" dirty="0">
              <a:latin typeface="Arial" pitchFamily="34" charset="0"/>
              <a:cs typeface="Arial" pitchFamily="34" charset="0"/>
            </a:endParaRPr>
          </a:p>
          <a:p>
            <a:pPr lvl="2">
              <a:buFont typeface="Arial" pitchFamily="34" charset="0"/>
              <a:buChar char="•"/>
            </a:pPr>
            <a:r>
              <a:rPr lang="es-ES" dirty="0">
                <a:latin typeface="Arial" pitchFamily="34" charset="0"/>
                <a:cs typeface="Arial" pitchFamily="34" charset="0"/>
              </a:rPr>
              <a:t>Contesta a las preguntas:</a:t>
            </a:r>
          </a:p>
          <a:p>
            <a:pPr lvl="3">
              <a:buFont typeface="Arial" pitchFamily="34" charset="0"/>
              <a:buChar char="•"/>
            </a:pPr>
            <a:r>
              <a:rPr lang="es-ES" dirty="0">
                <a:latin typeface="Arial" pitchFamily="34" charset="0"/>
                <a:cs typeface="Arial" pitchFamily="34" charset="0"/>
              </a:rPr>
              <a:t>¿Qué es una fábrica inteligente?</a:t>
            </a:r>
          </a:p>
          <a:p>
            <a:pPr lvl="3">
              <a:buFont typeface="Arial" pitchFamily="34" charset="0"/>
              <a:buChar char="•"/>
            </a:pPr>
            <a:r>
              <a:rPr lang="es-ES" dirty="0">
                <a:latin typeface="Arial" pitchFamily="34" charset="0"/>
                <a:cs typeface="Arial" pitchFamily="34" charset="0"/>
              </a:rPr>
              <a:t>¿Cuáles son las THD (Tecnologías Habilitadoras Digitales) de las fábricas inteligentes?</a:t>
            </a:r>
          </a:p>
          <a:p>
            <a:pPr lvl="3">
              <a:buFont typeface="Arial" pitchFamily="34" charset="0"/>
              <a:buChar char="•"/>
            </a:pPr>
            <a:r>
              <a:rPr lang="es-ES" dirty="0">
                <a:latin typeface="Arial" pitchFamily="34" charset="0"/>
                <a:cs typeface="Arial" pitchFamily="34" charset="0"/>
              </a:rPr>
              <a:t>¿Por qué es necesaria una fábrica inteligente?</a:t>
            </a:r>
          </a:p>
          <a:p>
            <a:pPr lvl="2">
              <a:buFont typeface="Arial" pitchFamily="34" charset="0"/>
              <a:buChar char="•"/>
            </a:pPr>
            <a:endParaRPr lang="es-ES_tradnl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2 Marcador de contenido"/>
          <p:cNvSpPr txBox="1">
            <a:spLocks/>
          </p:cNvSpPr>
          <p:nvPr/>
        </p:nvSpPr>
        <p:spPr>
          <a:xfrm>
            <a:off x="975360" y="2636912"/>
            <a:ext cx="7520940" cy="23762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8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3736" indent="-173736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2336" indent="-164592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30936" indent="-164592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9536" indent="-173736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73736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53312" indent="-164592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81912" indent="-164592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92224" indent="-164592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900" dirty="0">
                <a:latin typeface="Arial" pitchFamily="34" charset="0"/>
                <a:cs typeface="Arial" pitchFamily="34" charset="0"/>
              </a:rPr>
              <a:t>Ejercicios de repaso</a:t>
            </a:r>
          </a:p>
          <a:p>
            <a:pPr lvl="2">
              <a:buFont typeface="Arial" pitchFamily="34" charset="0"/>
              <a:buChar char="•"/>
            </a:pPr>
            <a:r>
              <a:rPr lang="es-ES" dirty="0">
                <a:latin typeface="Arial" pitchFamily="34" charset="0"/>
                <a:cs typeface="Arial" pitchFamily="34" charset="0"/>
              </a:rPr>
              <a:t>Visualiza el siguiente vídeo: https://www.youtube.com/watch?v=2SDb68NPUFA</a:t>
            </a:r>
          </a:p>
          <a:p>
            <a:pPr lvl="2">
              <a:buFont typeface="Arial" pitchFamily="34" charset="0"/>
              <a:buChar char="•"/>
            </a:pPr>
            <a:r>
              <a:rPr lang="es-ES" dirty="0">
                <a:latin typeface="Arial" pitchFamily="34" charset="0"/>
                <a:cs typeface="Arial" pitchFamily="34" charset="0"/>
              </a:rPr>
              <a:t>Contesta a las preguntas:</a:t>
            </a:r>
          </a:p>
          <a:p>
            <a:pPr lvl="3">
              <a:buFont typeface="Arial" pitchFamily="34" charset="0"/>
              <a:buChar char="•"/>
            </a:pPr>
            <a:r>
              <a:rPr lang="es-ES" dirty="0">
                <a:latin typeface="Arial" pitchFamily="34" charset="0"/>
                <a:cs typeface="Arial" pitchFamily="34" charset="0"/>
              </a:rPr>
              <a:t>¿Cuál es el objetivo principal del proyecto Astillero 4.0?</a:t>
            </a:r>
          </a:p>
          <a:p>
            <a:pPr lvl="3">
              <a:buFont typeface="Arial" pitchFamily="34" charset="0"/>
              <a:buChar char="•"/>
            </a:pPr>
            <a:r>
              <a:rPr lang="es-ES" dirty="0">
                <a:latin typeface="Arial" pitchFamily="34" charset="0"/>
                <a:cs typeface="Arial" pitchFamily="34" charset="0"/>
              </a:rPr>
              <a:t>Identifica qué tecnologías de la Industria </a:t>
            </a:r>
            <a:r>
              <a:rPr lang="es-ES">
                <a:latin typeface="Arial" pitchFamily="34" charset="0"/>
                <a:cs typeface="Arial" pitchFamily="34" charset="0"/>
              </a:rPr>
              <a:t>4.0 emplea.</a:t>
            </a:r>
            <a:endParaRPr lang="es-ES_tradnl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38958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Ángulos">
  <a:themeElements>
    <a:clrScheme name="Ángulo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Ángulo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Ángulo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0000"/>
                <a:shade val="85000"/>
              </a:schemeClr>
              <a:schemeClr val="phClr">
                <a:tint val="95000"/>
                <a:shade val="99000"/>
              </a:schemeClr>
            </a:duotone>
          </a:blip>
          <a:tile tx="0" ty="0" sx="100000" sy="10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3000"/>
                <a:shade val="85000"/>
              </a:schemeClr>
              <a:schemeClr val="phClr">
                <a:tint val="96000"/>
                <a:shade val="99000"/>
              </a:schemeClr>
            </a:duotone>
          </a:blip>
          <a:tile tx="0" ty="0" sx="90000" sy="9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48726</TotalTime>
  <Words>2065</Words>
  <Application>Microsoft Office PowerPoint</Application>
  <PresentationFormat>Presentación en pantalla (4:3)</PresentationFormat>
  <Paragraphs>159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5" baseType="lpstr">
      <vt:lpstr>Arial</vt:lpstr>
      <vt:lpstr>Franklin Gothic Book</vt:lpstr>
      <vt:lpstr>Franklin Gothic Medium</vt:lpstr>
      <vt:lpstr>Wingdings</vt:lpstr>
      <vt:lpstr>Ángulos</vt:lpstr>
      <vt:lpstr>Digitalización en los sectores productivos</vt:lpstr>
      <vt:lpstr>Presentación de PowerPoint</vt:lpstr>
      <vt:lpstr>Presentación de PowerPoint</vt:lpstr>
      <vt:lpstr>Cronología de las revoluciones industriales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Digitalización en los sectores productivos</dc:title>
  <dc:creator>Pefrán</dc:creator>
  <cp:lastModifiedBy>Rodrigo Hernández Sánchez</cp:lastModifiedBy>
  <cp:revision>52</cp:revision>
  <dcterms:created xsi:type="dcterms:W3CDTF">2025-09-15T07:09:31Z</dcterms:created>
  <dcterms:modified xsi:type="dcterms:W3CDTF">2026-09-24T10:13:55Z</dcterms:modified>
</cp:coreProperties>
</file>